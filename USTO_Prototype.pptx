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4686300" cy="9258300"/>
  <p:notesSz cx="9258300" cy="46863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21.png"/><Relationship Id="rId22" Type="http://schemas.openxmlformats.org/officeDocument/2006/relationships/image" Target="../media/image-3-2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image" Target="../media/image-3-25.png"/><Relationship Id="rId26" Type="http://schemas.openxmlformats.org/officeDocument/2006/relationships/image" Target="../media/image-3-26.svg"/><Relationship Id="rId27" Type="http://schemas.openxmlformats.org/officeDocument/2006/relationships/image" Target="../media/image-3-27.png"/><Relationship Id="rId28" Type="http://schemas.openxmlformats.org/officeDocument/2006/relationships/image" Target="../media/image-3-28.sv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image" Target="../media/image-5-23.png"/><Relationship Id="rId24" Type="http://schemas.openxmlformats.org/officeDocument/2006/relationships/image" Target="../media/image-5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25.png"/><Relationship Id="rId26" Type="http://schemas.openxmlformats.org/officeDocument/2006/relationships/image" Target="../media/image-6-26.svg"/><Relationship Id="rId27" Type="http://schemas.openxmlformats.org/officeDocument/2006/relationships/image" Target="../media/image-6-27.png"/><Relationship Id="rId28" Type="http://schemas.openxmlformats.org/officeDocument/2006/relationships/image" Target="../media/image-6-28.svg"/><Relationship Id="rId29" Type="http://schemas.openxmlformats.org/officeDocument/2006/relationships/image" Target="../media/image-6-29.png"/><Relationship Id="rId30" Type="http://schemas.openxmlformats.org/officeDocument/2006/relationships/image" Target="../media/image-6-30.sv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24300" cy="9258300"/>
          </a:xfrm>
          <a:prstGeom prst="roundRect">
            <a:avLst>
              <a:gd name="adj" fmla="val 5825"/>
            </a:avLst>
          </a:prstGeom>
          <a:gradFill rotWithShape="1">
            <a:gsLst>
              <a:gs pos="0">
                <a:srgbClr val="334155">
                  <a:alpha val="100000"/>
                </a:srgbClr>
              </a:gs>
              <a:gs pos="100000">
                <a:srgbClr val="1E293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3924300" cy="8496300"/>
          </a:xfrm>
          <a:prstGeom prst="roundRect">
            <a:avLst>
              <a:gd name="adj" fmla="val 4369"/>
            </a:avLst>
          </a:prstGeom>
          <a:solidFill>
            <a:srgbClr val="1D1B20"/>
          </a:solidFill>
          <a:ln w="76200">
            <a:solidFill>
              <a:srgbClr val="74777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552450"/>
            <a:ext cx="344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1050" spc="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47850" y="533400"/>
            <a:ext cx="228600" cy="2286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7550" y="571500"/>
            <a:ext cx="152400" cy="152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0900" y="571500"/>
            <a:ext cx="152400" cy="1524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300" y="571500"/>
            <a:ext cx="152400" cy="152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200" y="838200"/>
            <a:ext cx="3771900" cy="77343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5"/>
          <p:cNvSpPr/>
          <p:nvPr/>
        </p:nvSpPr>
        <p:spPr>
          <a:xfrm>
            <a:off x="1143000" y="2685157"/>
            <a:ext cx="1638300" cy="1638300"/>
          </a:xfrm>
          <a:prstGeom prst="roundRect">
            <a:avLst>
              <a:gd name="adj" fmla="val 27907"/>
            </a:avLst>
          </a:prstGeom>
          <a:gradFill rotWithShape="1">
            <a:gsLst>
              <a:gs pos="0">
                <a:srgbClr val="1E3A8A">
                  <a:alpha val="100000"/>
                </a:srgbClr>
              </a:gs>
              <a:gs pos="100000">
                <a:srgbClr val="1A56DB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609600" dist="228600" dir="5400000">
              <a:srgbClr val="1A56DB">
                <a:alpha val="40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1498550" y="3132832"/>
            <a:ext cx="10032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5850" dirty="0"/>
          </a:p>
        </p:txBody>
      </p:sp>
      <p:sp>
        <p:nvSpPr>
          <p:cNvPr id="12" name="Text 7"/>
          <p:cNvSpPr/>
          <p:nvPr/>
        </p:nvSpPr>
        <p:spPr>
          <a:xfrm>
            <a:off x="884939" y="4628257"/>
            <a:ext cx="21542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Опишите задачу</a:t>
            </a:r>
            <a:endParaRPr lang="en-US" sz="1875" dirty="0"/>
          </a:p>
        </p:txBody>
      </p:sp>
      <p:sp>
        <p:nvSpPr>
          <p:cNvPr id="13" name="Text 8"/>
          <p:cNvSpPr/>
          <p:nvPr/>
        </p:nvSpPr>
        <p:spPr>
          <a:xfrm>
            <a:off x="1259339" y="4971157"/>
            <a:ext cx="140562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Вазифаро тавсиф кунед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88645" y="5199757"/>
            <a:ext cx="2747010" cy="677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Укажите что нужно сделать и прикрепите фото — мастера увидят вашу заявку за 2 минуты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1743075" y="7572375"/>
            <a:ext cx="209550" cy="47625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/>
        </p:spPr>
      </p:sp>
      <p:sp>
        <p:nvSpPr>
          <p:cNvPr id="16" name="Shape 11"/>
          <p:cNvSpPr/>
          <p:nvPr/>
        </p:nvSpPr>
        <p:spPr>
          <a:xfrm>
            <a:off x="2009775" y="7572375"/>
            <a:ext cx="57150" cy="47625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2124075" y="7572375"/>
            <a:ext cx="57150" cy="47625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247650" y="7791450"/>
            <a:ext cx="1149400" cy="476250"/>
          </a:xfrm>
          <a:prstGeom prst="roundRect">
            <a:avLst>
              <a:gd name="adj" fmla="val 28000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266700" y="7800975"/>
            <a:ext cx="11113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Пропустить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1492300" y="7791450"/>
            <a:ext cx="2184350" cy="476250"/>
          </a:xfrm>
          <a:prstGeom prst="roundRect">
            <a:avLst>
              <a:gd name="adj" fmla="val 28000"/>
            </a:avLst>
          </a:prstGeom>
          <a:solidFill>
            <a:srgbClr val="1A56DB"/>
          </a:solidFill>
          <a:ln/>
        </p:spPr>
      </p:sp>
      <p:sp>
        <p:nvSpPr>
          <p:cNvPr id="21" name="Text 16"/>
          <p:cNvSpPr/>
          <p:nvPr/>
        </p:nvSpPr>
        <p:spPr>
          <a:xfrm>
            <a:off x="1511350" y="7800975"/>
            <a:ext cx="2146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Далее →</a:t>
            </a:r>
            <a:endParaRPr lang="en-US" sz="1125" dirty="0"/>
          </a:p>
        </p:txBody>
      </p:sp>
      <p:sp>
        <p:nvSpPr>
          <p:cNvPr id="22" name="Shape 17"/>
          <p:cNvSpPr/>
          <p:nvPr/>
        </p:nvSpPr>
        <p:spPr>
          <a:xfrm>
            <a:off x="1447800" y="8667750"/>
            <a:ext cx="10287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24300" cy="9258300"/>
          </a:xfrm>
          <a:prstGeom prst="roundRect">
            <a:avLst>
              <a:gd name="adj" fmla="val 5825"/>
            </a:avLst>
          </a:prstGeom>
          <a:gradFill rotWithShape="1">
            <a:gsLst>
              <a:gs pos="0">
                <a:srgbClr val="334155">
                  <a:alpha val="100000"/>
                </a:srgbClr>
              </a:gs>
              <a:gs pos="100000">
                <a:srgbClr val="1E293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3924300" cy="8496300"/>
          </a:xfrm>
          <a:prstGeom prst="roundRect">
            <a:avLst>
              <a:gd name="adj" fmla="val 4369"/>
            </a:avLst>
          </a:prstGeom>
          <a:solidFill>
            <a:srgbClr val="F4FBF8"/>
          </a:solidFill>
          <a:ln w="76200">
            <a:solidFill>
              <a:srgbClr val="74777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552450"/>
            <a:ext cx="344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1050" spc="19" kern="0" dirty="0">
                <a:solidFill>
                  <a:srgbClr val="17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47850" y="533400"/>
            <a:ext cx="228600" cy="2286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7550" y="571500"/>
            <a:ext cx="152400" cy="152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0900" y="571500"/>
            <a:ext cx="152400" cy="1524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300" y="571500"/>
            <a:ext cx="152400" cy="152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200" y="838200"/>
            <a:ext cx="3771900" cy="77343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7650" y="1009650"/>
            <a:ext cx="342900" cy="34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1052513"/>
            <a:ext cx="49827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7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usto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247650" y="1581150"/>
            <a:ext cx="37719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Войти в аккаунт</a:t>
            </a:r>
            <a:endParaRPr lang="en-US" sz="1875" dirty="0"/>
          </a:p>
        </p:txBody>
      </p:sp>
      <p:sp>
        <p:nvSpPr>
          <p:cNvPr id="13" name="Text 7"/>
          <p:cNvSpPr/>
          <p:nvPr/>
        </p:nvSpPr>
        <p:spPr>
          <a:xfrm>
            <a:off x="247650" y="1895475"/>
            <a:ext cx="37719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Даромадан ба аккаунт</a:t>
            </a:r>
            <a:endParaRPr lang="en-US" sz="825" dirty="0"/>
          </a:p>
        </p:txBody>
      </p:sp>
      <p:sp>
        <p:nvSpPr>
          <p:cNvPr id="14" name="Shape 8"/>
          <p:cNvSpPr/>
          <p:nvPr/>
        </p:nvSpPr>
        <p:spPr>
          <a:xfrm>
            <a:off x="247650" y="2190750"/>
            <a:ext cx="3429000" cy="514350"/>
          </a:xfrm>
          <a:prstGeom prst="roundRect">
            <a:avLst>
              <a:gd name="adj" fmla="val 29630"/>
            </a:avLst>
          </a:prstGeom>
          <a:solidFill>
            <a:srgbClr val="F0F6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00050" y="2338388"/>
            <a:ext cx="2783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🇹🇯</a:t>
            </a:r>
            <a:endParaRPr lang="en-US" sz="1275" dirty="0"/>
          </a:p>
        </p:txBody>
      </p:sp>
      <p:sp>
        <p:nvSpPr>
          <p:cNvPr id="16" name="Text 10"/>
          <p:cNvSpPr/>
          <p:nvPr/>
        </p:nvSpPr>
        <p:spPr>
          <a:xfrm>
            <a:off x="697409" y="2362200"/>
            <a:ext cx="39856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+992</a:t>
            </a:r>
            <a:endParaRPr lang="en-US" sz="1125" dirty="0"/>
          </a:p>
        </p:txBody>
      </p:sp>
      <p:sp>
        <p:nvSpPr>
          <p:cNvPr id="17" name="Shape 11"/>
          <p:cNvSpPr/>
          <p:nvPr/>
        </p:nvSpPr>
        <p:spPr>
          <a:xfrm>
            <a:off x="1115020" y="2343150"/>
            <a:ext cx="9525" cy="209550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18" name="Text 12"/>
          <p:cNvSpPr/>
          <p:nvPr/>
        </p:nvSpPr>
        <p:spPr>
          <a:xfrm>
            <a:off x="1219795" y="2343150"/>
            <a:ext cx="240917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 ··· ·· ·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3505200" y="2352675"/>
            <a:ext cx="19050" cy="190500"/>
          </a:xfrm>
          <a:prstGeom prst="roundRect">
            <a:avLst>
              <a:gd name="adj" fmla="val 50000"/>
            </a:avLst>
          </a:prstGeom>
          <a:solidFill>
            <a:srgbClr val="1A56DB">
              <a:alpha val="54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247650" y="2857500"/>
            <a:ext cx="1098500" cy="5334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/>
        </p:spPr>
      </p:sp>
      <p:sp>
        <p:nvSpPr>
          <p:cNvPr id="21" name="Text 15"/>
          <p:cNvSpPr/>
          <p:nvPr/>
        </p:nvSpPr>
        <p:spPr>
          <a:xfrm>
            <a:off x="699641" y="3014663"/>
            <a:ext cx="194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22" name="Shape 16"/>
          <p:cNvSpPr/>
          <p:nvPr/>
        </p:nvSpPr>
        <p:spPr>
          <a:xfrm>
            <a:off x="1412825" y="2857500"/>
            <a:ext cx="1098500" cy="5334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/>
        </p:spPr>
      </p:sp>
      <p:sp>
        <p:nvSpPr>
          <p:cNvPr id="23" name="Text 17"/>
          <p:cNvSpPr/>
          <p:nvPr/>
        </p:nvSpPr>
        <p:spPr>
          <a:xfrm>
            <a:off x="1864816" y="2971800"/>
            <a:ext cx="194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1850827" y="3190875"/>
            <a:ext cx="222498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spc="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АБВ</a:t>
            </a:r>
            <a:endParaRPr lang="en-US" sz="525" dirty="0"/>
          </a:p>
        </p:txBody>
      </p:sp>
      <p:sp>
        <p:nvSpPr>
          <p:cNvPr id="25" name="Shape 19"/>
          <p:cNvSpPr/>
          <p:nvPr/>
        </p:nvSpPr>
        <p:spPr>
          <a:xfrm>
            <a:off x="2578001" y="2857500"/>
            <a:ext cx="1098649" cy="5334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/>
        </p:spPr>
      </p:sp>
      <p:sp>
        <p:nvSpPr>
          <p:cNvPr id="26" name="Text 20"/>
          <p:cNvSpPr/>
          <p:nvPr/>
        </p:nvSpPr>
        <p:spPr>
          <a:xfrm>
            <a:off x="3029992" y="2971800"/>
            <a:ext cx="194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3017193" y="3190875"/>
            <a:ext cx="220266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spc="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</a:t>
            </a:r>
            <a:endParaRPr lang="en-US" sz="525" dirty="0"/>
          </a:p>
        </p:txBody>
      </p:sp>
      <p:sp>
        <p:nvSpPr>
          <p:cNvPr id="28" name="Shape 22"/>
          <p:cNvSpPr/>
          <p:nvPr/>
        </p:nvSpPr>
        <p:spPr>
          <a:xfrm>
            <a:off x="247650" y="3457575"/>
            <a:ext cx="1098500" cy="5334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/>
        </p:spPr>
      </p:sp>
      <p:sp>
        <p:nvSpPr>
          <p:cNvPr id="29" name="Text 23"/>
          <p:cNvSpPr/>
          <p:nvPr/>
        </p:nvSpPr>
        <p:spPr>
          <a:xfrm>
            <a:off x="699641" y="3571875"/>
            <a:ext cx="194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30" name="Text 24"/>
          <p:cNvSpPr/>
          <p:nvPr/>
        </p:nvSpPr>
        <p:spPr>
          <a:xfrm>
            <a:off x="675977" y="3790950"/>
            <a:ext cx="241697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spc="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ЖЗИ</a:t>
            </a:r>
            <a:endParaRPr lang="en-US" sz="525" dirty="0"/>
          </a:p>
        </p:txBody>
      </p:sp>
      <p:sp>
        <p:nvSpPr>
          <p:cNvPr id="31" name="Shape 25"/>
          <p:cNvSpPr/>
          <p:nvPr/>
        </p:nvSpPr>
        <p:spPr>
          <a:xfrm>
            <a:off x="1412825" y="3457575"/>
            <a:ext cx="1098500" cy="5334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/>
        </p:spPr>
      </p:sp>
      <p:sp>
        <p:nvSpPr>
          <p:cNvPr id="32" name="Text 26"/>
          <p:cNvSpPr/>
          <p:nvPr/>
        </p:nvSpPr>
        <p:spPr>
          <a:xfrm>
            <a:off x="1864816" y="3571875"/>
            <a:ext cx="194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50" dirty="0"/>
          </a:p>
        </p:txBody>
      </p:sp>
      <p:sp>
        <p:nvSpPr>
          <p:cNvPr id="33" name="Text 27"/>
          <p:cNvSpPr/>
          <p:nvPr/>
        </p:nvSpPr>
        <p:spPr>
          <a:xfrm>
            <a:off x="1841302" y="3790950"/>
            <a:ext cx="241399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spc="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КЛМ</a:t>
            </a:r>
            <a:endParaRPr lang="en-US" sz="525" dirty="0"/>
          </a:p>
        </p:txBody>
      </p:sp>
      <p:sp>
        <p:nvSpPr>
          <p:cNvPr id="34" name="Shape 28"/>
          <p:cNvSpPr/>
          <p:nvPr/>
        </p:nvSpPr>
        <p:spPr>
          <a:xfrm>
            <a:off x="2578001" y="3457575"/>
            <a:ext cx="1098649" cy="5334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/>
        </p:spPr>
      </p:sp>
      <p:sp>
        <p:nvSpPr>
          <p:cNvPr id="35" name="Text 29"/>
          <p:cNvSpPr/>
          <p:nvPr/>
        </p:nvSpPr>
        <p:spPr>
          <a:xfrm>
            <a:off x="3029992" y="3571875"/>
            <a:ext cx="194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50" dirty="0"/>
          </a:p>
        </p:txBody>
      </p:sp>
      <p:sp>
        <p:nvSpPr>
          <p:cNvPr id="36" name="Text 30"/>
          <p:cNvSpPr/>
          <p:nvPr/>
        </p:nvSpPr>
        <p:spPr>
          <a:xfrm>
            <a:off x="3007668" y="3790950"/>
            <a:ext cx="239167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spc="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НОП</a:t>
            </a:r>
            <a:endParaRPr lang="en-US" sz="525" dirty="0"/>
          </a:p>
        </p:txBody>
      </p:sp>
      <p:sp>
        <p:nvSpPr>
          <p:cNvPr id="37" name="Shape 31"/>
          <p:cNvSpPr/>
          <p:nvPr/>
        </p:nvSpPr>
        <p:spPr>
          <a:xfrm>
            <a:off x="247650" y="4057650"/>
            <a:ext cx="1098500" cy="5334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/>
        </p:spPr>
      </p:sp>
      <p:sp>
        <p:nvSpPr>
          <p:cNvPr id="38" name="Text 32"/>
          <p:cNvSpPr/>
          <p:nvPr/>
        </p:nvSpPr>
        <p:spPr>
          <a:xfrm>
            <a:off x="699641" y="4171950"/>
            <a:ext cx="194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50" dirty="0"/>
          </a:p>
        </p:txBody>
      </p:sp>
      <p:sp>
        <p:nvSpPr>
          <p:cNvPr id="39" name="Text 33"/>
          <p:cNvSpPr/>
          <p:nvPr/>
        </p:nvSpPr>
        <p:spPr>
          <a:xfrm>
            <a:off x="683419" y="4391025"/>
            <a:ext cx="226814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spc="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РСТ</a:t>
            </a:r>
            <a:endParaRPr lang="en-US" sz="525" dirty="0"/>
          </a:p>
        </p:txBody>
      </p:sp>
      <p:sp>
        <p:nvSpPr>
          <p:cNvPr id="40" name="Shape 34"/>
          <p:cNvSpPr/>
          <p:nvPr/>
        </p:nvSpPr>
        <p:spPr>
          <a:xfrm>
            <a:off x="1412825" y="4057650"/>
            <a:ext cx="1098500" cy="5334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/>
        </p:spPr>
      </p:sp>
      <p:sp>
        <p:nvSpPr>
          <p:cNvPr id="41" name="Text 35"/>
          <p:cNvSpPr/>
          <p:nvPr/>
        </p:nvSpPr>
        <p:spPr>
          <a:xfrm>
            <a:off x="1864816" y="4171950"/>
            <a:ext cx="194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50" dirty="0"/>
          </a:p>
        </p:txBody>
      </p:sp>
      <p:sp>
        <p:nvSpPr>
          <p:cNvPr id="42" name="Text 36"/>
          <p:cNvSpPr/>
          <p:nvPr/>
        </p:nvSpPr>
        <p:spPr>
          <a:xfrm>
            <a:off x="1850827" y="4391025"/>
            <a:ext cx="222498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spc="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УФХ</a:t>
            </a:r>
            <a:endParaRPr lang="en-US" sz="525" dirty="0"/>
          </a:p>
        </p:txBody>
      </p:sp>
      <p:sp>
        <p:nvSpPr>
          <p:cNvPr id="43" name="Shape 37"/>
          <p:cNvSpPr/>
          <p:nvPr/>
        </p:nvSpPr>
        <p:spPr>
          <a:xfrm>
            <a:off x="2578001" y="4057650"/>
            <a:ext cx="1098649" cy="5334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/>
        </p:spPr>
      </p:sp>
      <p:sp>
        <p:nvSpPr>
          <p:cNvPr id="44" name="Text 38"/>
          <p:cNvSpPr/>
          <p:nvPr/>
        </p:nvSpPr>
        <p:spPr>
          <a:xfrm>
            <a:off x="3029992" y="4171950"/>
            <a:ext cx="19451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50" dirty="0"/>
          </a:p>
        </p:txBody>
      </p:sp>
      <p:sp>
        <p:nvSpPr>
          <p:cNvPr id="45" name="Text 39"/>
          <p:cNvSpPr/>
          <p:nvPr/>
        </p:nvSpPr>
        <p:spPr>
          <a:xfrm>
            <a:off x="3002012" y="4391025"/>
            <a:ext cx="250478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25" spc="6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ЦЧШ</a:t>
            </a:r>
            <a:endParaRPr lang="en-US" sz="525" dirty="0"/>
          </a:p>
        </p:txBody>
      </p:sp>
      <p:sp>
        <p:nvSpPr>
          <p:cNvPr id="46" name="Shape 40"/>
          <p:cNvSpPr/>
          <p:nvPr/>
        </p:nvSpPr>
        <p:spPr>
          <a:xfrm>
            <a:off x="1412825" y="4657725"/>
            <a:ext cx="1098500" cy="5334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/>
        </p:spPr>
      </p:sp>
      <p:sp>
        <p:nvSpPr>
          <p:cNvPr id="47" name="Text 41"/>
          <p:cNvSpPr/>
          <p:nvPr/>
        </p:nvSpPr>
        <p:spPr>
          <a:xfrm>
            <a:off x="1431875" y="4667250"/>
            <a:ext cx="10604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50" dirty="0"/>
          </a:p>
        </p:txBody>
      </p:sp>
      <p:sp>
        <p:nvSpPr>
          <p:cNvPr id="48" name="Shape 42"/>
          <p:cNvSpPr/>
          <p:nvPr/>
        </p:nvSpPr>
        <p:spPr>
          <a:xfrm>
            <a:off x="2578001" y="4657725"/>
            <a:ext cx="1098649" cy="5334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/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22550" y="4819650"/>
            <a:ext cx="209550" cy="209550"/>
          </a:xfrm>
          <a:prstGeom prst="rect">
            <a:avLst/>
          </a:prstGeom>
        </p:spPr>
      </p:pic>
      <p:sp>
        <p:nvSpPr>
          <p:cNvPr id="50" name="Shape 43"/>
          <p:cNvSpPr/>
          <p:nvPr/>
        </p:nvSpPr>
        <p:spPr>
          <a:xfrm>
            <a:off x="247650" y="5305425"/>
            <a:ext cx="3429000" cy="476250"/>
          </a:xfrm>
          <a:prstGeom prst="roundRect">
            <a:avLst>
              <a:gd name="adj" fmla="val 28000"/>
            </a:avLst>
          </a:prstGeom>
          <a:solidFill>
            <a:srgbClr val="CBD5E1"/>
          </a:solidFill>
          <a:ln/>
        </p:spPr>
      </p:sp>
      <p:sp>
        <p:nvSpPr>
          <p:cNvPr id="51" name="Text 44"/>
          <p:cNvSpPr/>
          <p:nvPr/>
        </p:nvSpPr>
        <p:spPr>
          <a:xfrm>
            <a:off x="253365" y="5314950"/>
            <a:ext cx="34175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SMS-код</a:t>
            </a:r>
            <a:endParaRPr lang="en-US" sz="1125" dirty="0"/>
          </a:p>
        </p:txBody>
      </p:sp>
      <p:sp>
        <p:nvSpPr>
          <p:cNvPr id="52" name="Text 45"/>
          <p:cNvSpPr/>
          <p:nvPr/>
        </p:nvSpPr>
        <p:spPr>
          <a:xfrm>
            <a:off x="76200" y="5876925"/>
            <a:ext cx="37719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Продолжая, вы соглашаетесь с </a:t>
            </a:r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офертой </a:t>
            </a:r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</a:t>
            </a:r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политикой</a:t>
            </a:r>
            <a:endParaRPr lang="en-US" sz="825" dirty="0"/>
          </a:p>
        </p:txBody>
      </p:sp>
      <p:sp>
        <p:nvSpPr>
          <p:cNvPr id="53" name="Shape 46"/>
          <p:cNvSpPr/>
          <p:nvPr/>
        </p:nvSpPr>
        <p:spPr>
          <a:xfrm>
            <a:off x="1447800" y="8667750"/>
            <a:ext cx="1028700" cy="38100"/>
          </a:xfrm>
          <a:prstGeom prst="roundRect">
            <a:avLst>
              <a:gd name="adj" fmla="val 50000"/>
            </a:avLst>
          </a:prstGeom>
          <a:solidFill>
            <a:srgbClr val="171D1B">
              <a:alpha val="4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24300" cy="9258300"/>
          </a:xfrm>
          <a:prstGeom prst="roundRect">
            <a:avLst>
              <a:gd name="adj" fmla="val 5825"/>
            </a:avLst>
          </a:prstGeom>
          <a:gradFill rotWithShape="1">
            <a:gsLst>
              <a:gs pos="0">
                <a:srgbClr val="334155">
                  <a:alpha val="100000"/>
                </a:srgbClr>
              </a:gs>
              <a:gs pos="100000">
                <a:srgbClr val="1E293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3924300" cy="8496300"/>
          </a:xfrm>
          <a:prstGeom prst="roundRect">
            <a:avLst>
              <a:gd name="adj" fmla="val 4369"/>
            </a:avLst>
          </a:prstGeom>
          <a:solidFill>
            <a:srgbClr val="F4FBF8"/>
          </a:solidFill>
          <a:ln w="76200">
            <a:solidFill>
              <a:srgbClr val="74777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552450"/>
            <a:ext cx="344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1050" spc="19" kern="0" dirty="0">
                <a:solidFill>
                  <a:srgbClr val="17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47850" y="533400"/>
            <a:ext cx="228600" cy="2286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7550" y="571500"/>
            <a:ext cx="152400" cy="152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0900" y="571500"/>
            <a:ext cx="152400" cy="1524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300" y="571500"/>
            <a:ext cx="152400" cy="152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200" y="838200"/>
            <a:ext cx="3771900" cy="130492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9075" y="1028700"/>
            <a:ext cx="104775" cy="1333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1000" y="1014413"/>
            <a:ext cx="6670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Душанбе</a:t>
            </a:r>
            <a:endParaRPr lang="en-US" sz="10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8998" y="1047750"/>
            <a:ext cx="95250" cy="9525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381375" y="93345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67100" y="1019175"/>
            <a:ext cx="152400" cy="15240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3638550" y="923925"/>
            <a:ext cx="76200" cy="76200"/>
          </a:xfrm>
          <a:prstGeom prst="ellipse">
            <a:avLst/>
          </a:prstGeom>
          <a:solidFill>
            <a:srgbClr val="EF4444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219075" y="1352550"/>
            <a:ext cx="3486150" cy="381000"/>
          </a:xfrm>
          <a:prstGeom prst="roundRect">
            <a:avLst>
              <a:gd name="adj" fmla="val 30000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3375" y="1476375"/>
            <a:ext cx="133350" cy="1333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42925" y="1457325"/>
            <a:ext cx="23248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сделать? / Чӣ бояд кард?</a:t>
            </a:r>
            <a:endParaRPr lang="en-US" sz="975" dirty="0"/>
          </a:p>
        </p:txBody>
      </p:sp>
      <p:sp>
        <p:nvSpPr>
          <p:cNvPr id="19" name="Shape 10"/>
          <p:cNvSpPr/>
          <p:nvPr/>
        </p:nvSpPr>
        <p:spPr>
          <a:xfrm>
            <a:off x="219075" y="1857375"/>
            <a:ext cx="1077813" cy="171450"/>
          </a:xfrm>
          <a:prstGeom prst="roundRect">
            <a:avLst>
              <a:gd name="adj" fmla="val 44444"/>
            </a:avLst>
          </a:prstGeom>
          <a:solidFill>
            <a:srgbClr val="1A56DB">
              <a:alpha val="30000"/>
            </a:srgbClr>
          </a:solidFill>
          <a:ln/>
        </p:spPr>
      </p:sp>
      <p:sp>
        <p:nvSpPr>
          <p:cNvPr id="20" name="Shape 11"/>
          <p:cNvSpPr/>
          <p:nvPr/>
        </p:nvSpPr>
        <p:spPr>
          <a:xfrm>
            <a:off x="314325" y="1914525"/>
            <a:ext cx="57150" cy="5715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1" name="Text 12"/>
          <p:cNvSpPr/>
          <p:nvPr/>
        </p:nvSpPr>
        <p:spPr>
          <a:xfrm>
            <a:off x="419100" y="1885950"/>
            <a:ext cx="85873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Режим: Заказчик</a:t>
            </a:r>
            <a:endParaRPr lang="en-US" sz="750" dirty="0"/>
          </a:p>
        </p:txBody>
      </p:sp>
      <p:sp>
        <p:nvSpPr>
          <p:cNvPr id="22" name="Shape 13"/>
          <p:cNvSpPr/>
          <p:nvPr/>
        </p:nvSpPr>
        <p:spPr>
          <a:xfrm>
            <a:off x="76200" y="2143125"/>
            <a:ext cx="3771900" cy="5857875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Shape 14"/>
          <p:cNvSpPr/>
          <p:nvPr/>
        </p:nvSpPr>
        <p:spPr>
          <a:xfrm>
            <a:off x="209550" y="2276475"/>
            <a:ext cx="3505200" cy="1400175"/>
          </a:xfrm>
          <a:prstGeom prst="roundRect">
            <a:avLst>
              <a:gd name="adj" fmla="val 13605"/>
            </a:avLst>
          </a:prstGeom>
          <a:gradFill rotWithShape="1">
            <a:gsLst>
              <a:gs pos="0">
                <a:srgbClr val="1A56DB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4" name="Shape 15"/>
          <p:cNvSpPr/>
          <p:nvPr/>
        </p:nvSpPr>
        <p:spPr>
          <a:xfrm>
            <a:off x="2933700" y="2933700"/>
            <a:ext cx="914400" cy="9144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5" name="Text 16"/>
          <p:cNvSpPr/>
          <p:nvPr/>
        </p:nvSpPr>
        <p:spPr>
          <a:xfrm>
            <a:off x="381000" y="2447925"/>
            <a:ext cx="347853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38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ПОМОЩЬ ПО ДОМУ?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381000" y="2600325"/>
            <a:ext cx="325716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Найди мастера за 2 минуты</a:t>
            </a:r>
            <a:endParaRPr lang="en-US" sz="1500" dirty="0"/>
          </a:p>
        </p:txBody>
      </p:sp>
      <p:sp>
        <p:nvSpPr>
          <p:cNvPr id="27" name="Shape 18"/>
          <p:cNvSpPr/>
          <p:nvPr/>
        </p:nvSpPr>
        <p:spPr>
          <a:xfrm>
            <a:off x="381000" y="3190875"/>
            <a:ext cx="1373981" cy="314325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/>
        </p:spPr>
      </p:sp>
      <p:sp>
        <p:nvSpPr>
          <p:cNvPr id="28" name="Text 19"/>
          <p:cNvSpPr/>
          <p:nvPr/>
        </p:nvSpPr>
        <p:spPr>
          <a:xfrm>
            <a:off x="514350" y="3276600"/>
            <a:ext cx="110728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Создать заявку</a:t>
            </a:r>
            <a:endParaRPr lang="en-US" sz="975" dirty="0"/>
          </a:p>
        </p:txBody>
      </p:sp>
      <p:sp>
        <p:nvSpPr>
          <p:cNvPr id="29" name="Text 20"/>
          <p:cNvSpPr/>
          <p:nvPr/>
        </p:nvSpPr>
        <p:spPr>
          <a:xfrm>
            <a:off x="209550" y="3829050"/>
            <a:ext cx="86067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Категории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3378250" y="3852863"/>
            <a:ext cx="412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→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209550" y="4114800"/>
            <a:ext cx="819150" cy="756196"/>
          </a:xfrm>
          <a:prstGeom prst="roundRect">
            <a:avLst>
              <a:gd name="adj" fmla="val 17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419100" y="42100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/>
        </p:spPr>
      </p:sp>
      <p:sp>
        <p:nvSpPr>
          <p:cNvPr id="33" name="Text 24"/>
          <p:cNvSpPr/>
          <p:nvPr/>
        </p:nvSpPr>
        <p:spPr>
          <a:xfrm>
            <a:off x="500211" y="4281488"/>
            <a:ext cx="3140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326678" y="4667250"/>
            <a:ext cx="584746" cy="14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Сантехника</a:t>
            </a:r>
            <a:endParaRPr lang="en-US" sz="713" dirty="0"/>
          </a:p>
        </p:txBody>
      </p:sp>
      <p:sp>
        <p:nvSpPr>
          <p:cNvPr id="35" name="Shape 26"/>
          <p:cNvSpPr/>
          <p:nvPr/>
        </p:nvSpPr>
        <p:spPr>
          <a:xfrm>
            <a:off x="1104900" y="4114800"/>
            <a:ext cx="819150" cy="756196"/>
          </a:xfrm>
          <a:prstGeom prst="roundRect">
            <a:avLst>
              <a:gd name="adj" fmla="val 17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1314450" y="42100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EF9C3"/>
          </a:solidFill>
          <a:ln/>
        </p:spPr>
      </p:sp>
      <p:sp>
        <p:nvSpPr>
          <p:cNvPr id="37" name="Text 28"/>
          <p:cNvSpPr/>
          <p:nvPr/>
        </p:nvSpPr>
        <p:spPr>
          <a:xfrm>
            <a:off x="1395561" y="4281488"/>
            <a:ext cx="3140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1243013" y="4667250"/>
            <a:ext cx="542925" cy="14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Электрика</a:t>
            </a:r>
            <a:endParaRPr lang="en-US" sz="713" dirty="0"/>
          </a:p>
        </p:txBody>
      </p:sp>
      <p:sp>
        <p:nvSpPr>
          <p:cNvPr id="39" name="Shape 30"/>
          <p:cNvSpPr/>
          <p:nvPr/>
        </p:nvSpPr>
        <p:spPr>
          <a:xfrm>
            <a:off x="2000250" y="4114800"/>
            <a:ext cx="819150" cy="756196"/>
          </a:xfrm>
          <a:prstGeom prst="roundRect">
            <a:avLst>
              <a:gd name="adj" fmla="val 17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2209800" y="42100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CE7F3"/>
          </a:solidFill>
          <a:ln/>
        </p:spPr>
      </p:sp>
      <p:sp>
        <p:nvSpPr>
          <p:cNvPr id="41" name="Text 32"/>
          <p:cNvSpPr/>
          <p:nvPr/>
        </p:nvSpPr>
        <p:spPr>
          <a:xfrm>
            <a:off x="2290911" y="4281488"/>
            <a:ext cx="3140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</a:t>
            </a:r>
            <a:endParaRPr lang="en-US" sz="1500" dirty="0"/>
          </a:p>
        </p:txBody>
      </p:sp>
      <p:sp>
        <p:nvSpPr>
          <p:cNvPr id="42" name="Text 33"/>
          <p:cNvSpPr/>
          <p:nvPr/>
        </p:nvSpPr>
        <p:spPr>
          <a:xfrm>
            <a:off x="2208609" y="4667250"/>
            <a:ext cx="402282" cy="14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Ремонт</a:t>
            </a:r>
            <a:endParaRPr lang="en-US" sz="713" dirty="0"/>
          </a:p>
        </p:txBody>
      </p:sp>
      <p:sp>
        <p:nvSpPr>
          <p:cNvPr id="43" name="Shape 34"/>
          <p:cNvSpPr/>
          <p:nvPr/>
        </p:nvSpPr>
        <p:spPr>
          <a:xfrm>
            <a:off x="2895600" y="4114800"/>
            <a:ext cx="819150" cy="756196"/>
          </a:xfrm>
          <a:prstGeom prst="roundRect">
            <a:avLst>
              <a:gd name="adj" fmla="val 17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3105150" y="42100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/>
        </p:spPr>
      </p:sp>
      <p:sp>
        <p:nvSpPr>
          <p:cNvPr id="45" name="Text 36"/>
          <p:cNvSpPr/>
          <p:nvPr/>
        </p:nvSpPr>
        <p:spPr>
          <a:xfrm>
            <a:off x="3186261" y="4281488"/>
            <a:ext cx="3140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🪑</a:t>
            </a:r>
            <a:endParaRPr lang="en-US" sz="1500" dirty="0"/>
          </a:p>
        </p:txBody>
      </p:sp>
      <p:sp>
        <p:nvSpPr>
          <p:cNvPr id="46" name="Text 37"/>
          <p:cNvSpPr/>
          <p:nvPr/>
        </p:nvSpPr>
        <p:spPr>
          <a:xfrm>
            <a:off x="3096518" y="4667250"/>
            <a:ext cx="417165" cy="14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Мебель</a:t>
            </a:r>
            <a:endParaRPr lang="en-US" sz="713" dirty="0"/>
          </a:p>
        </p:txBody>
      </p:sp>
      <p:sp>
        <p:nvSpPr>
          <p:cNvPr id="47" name="Shape 38"/>
          <p:cNvSpPr/>
          <p:nvPr/>
        </p:nvSpPr>
        <p:spPr>
          <a:xfrm>
            <a:off x="209550" y="4947196"/>
            <a:ext cx="819150" cy="756196"/>
          </a:xfrm>
          <a:prstGeom prst="roundRect">
            <a:avLst>
              <a:gd name="adj" fmla="val 17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419100" y="5042446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E0E7FF"/>
          </a:solidFill>
          <a:ln/>
        </p:spPr>
      </p:sp>
      <p:sp>
        <p:nvSpPr>
          <p:cNvPr id="49" name="Text 40"/>
          <p:cNvSpPr/>
          <p:nvPr/>
        </p:nvSpPr>
        <p:spPr>
          <a:xfrm>
            <a:off x="500211" y="5113883"/>
            <a:ext cx="3140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1500" dirty="0"/>
          </a:p>
        </p:txBody>
      </p:sp>
      <p:sp>
        <p:nvSpPr>
          <p:cNvPr id="50" name="Text 41"/>
          <p:cNvSpPr/>
          <p:nvPr/>
        </p:nvSpPr>
        <p:spPr>
          <a:xfrm>
            <a:off x="424160" y="5499646"/>
            <a:ext cx="389930" cy="14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Уборка</a:t>
            </a:r>
            <a:endParaRPr lang="en-US" sz="713" dirty="0"/>
          </a:p>
        </p:txBody>
      </p:sp>
      <p:sp>
        <p:nvSpPr>
          <p:cNvPr id="51" name="Shape 42"/>
          <p:cNvSpPr/>
          <p:nvPr/>
        </p:nvSpPr>
        <p:spPr>
          <a:xfrm>
            <a:off x="1104900" y="4947196"/>
            <a:ext cx="819150" cy="756196"/>
          </a:xfrm>
          <a:prstGeom prst="roundRect">
            <a:avLst>
              <a:gd name="adj" fmla="val 17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52" name="Shape 43"/>
          <p:cNvSpPr/>
          <p:nvPr/>
        </p:nvSpPr>
        <p:spPr>
          <a:xfrm>
            <a:off x="1314450" y="5042446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/>
        </p:spPr>
      </p:sp>
      <p:sp>
        <p:nvSpPr>
          <p:cNvPr id="53" name="Text 44"/>
          <p:cNvSpPr/>
          <p:nvPr/>
        </p:nvSpPr>
        <p:spPr>
          <a:xfrm>
            <a:off x="1395561" y="5113883"/>
            <a:ext cx="3140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500" dirty="0"/>
          </a:p>
        </p:txBody>
      </p:sp>
      <p:sp>
        <p:nvSpPr>
          <p:cNvPr id="54" name="Text 45"/>
          <p:cNvSpPr/>
          <p:nvPr/>
        </p:nvSpPr>
        <p:spPr>
          <a:xfrm>
            <a:off x="1277243" y="5499646"/>
            <a:ext cx="474464" cy="14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Грузчики</a:t>
            </a:r>
            <a:endParaRPr lang="en-US" sz="713" dirty="0"/>
          </a:p>
        </p:txBody>
      </p:sp>
      <p:sp>
        <p:nvSpPr>
          <p:cNvPr id="55" name="Shape 46"/>
          <p:cNvSpPr/>
          <p:nvPr/>
        </p:nvSpPr>
        <p:spPr>
          <a:xfrm>
            <a:off x="2000250" y="4947196"/>
            <a:ext cx="819150" cy="756196"/>
          </a:xfrm>
          <a:prstGeom prst="roundRect">
            <a:avLst>
              <a:gd name="adj" fmla="val 17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2209800" y="5042446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</p:sp>
      <p:sp>
        <p:nvSpPr>
          <p:cNvPr id="57" name="Text 48"/>
          <p:cNvSpPr/>
          <p:nvPr/>
        </p:nvSpPr>
        <p:spPr>
          <a:xfrm>
            <a:off x="2290911" y="5113883"/>
            <a:ext cx="3140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</a:t>
            </a:r>
            <a:endParaRPr lang="en-US" sz="1500" dirty="0"/>
          </a:p>
        </p:txBody>
      </p:sp>
      <p:sp>
        <p:nvSpPr>
          <p:cNvPr id="58" name="Text 49"/>
          <p:cNvSpPr/>
          <p:nvPr/>
        </p:nvSpPr>
        <p:spPr>
          <a:xfrm>
            <a:off x="2194322" y="5499646"/>
            <a:ext cx="431006" cy="14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Кондиц.</a:t>
            </a:r>
            <a:endParaRPr lang="en-US" sz="713" dirty="0"/>
          </a:p>
        </p:txBody>
      </p:sp>
      <p:sp>
        <p:nvSpPr>
          <p:cNvPr id="59" name="Shape 50"/>
          <p:cNvSpPr/>
          <p:nvPr/>
        </p:nvSpPr>
        <p:spPr>
          <a:xfrm>
            <a:off x="2895600" y="4947196"/>
            <a:ext cx="819150" cy="756196"/>
          </a:xfrm>
          <a:prstGeom prst="roundRect">
            <a:avLst>
              <a:gd name="adj" fmla="val 17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60" name="Shape 51"/>
          <p:cNvSpPr/>
          <p:nvPr/>
        </p:nvSpPr>
        <p:spPr>
          <a:xfrm>
            <a:off x="3105150" y="5042446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3F4F6"/>
          </a:solidFill>
          <a:ln/>
        </p:spPr>
      </p:sp>
      <p:sp>
        <p:nvSpPr>
          <p:cNvPr id="61" name="Text 52"/>
          <p:cNvSpPr/>
          <p:nvPr/>
        </p:nvSpPr>
        <p:spPr>
          <a:xfrm>
            <a:off x="3186261" y="5113883"/>
            <a:ext cx="3140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1500" dirty="0"/>
          </a:p>
        </p:txBody>
      </p:sp>
      <p:sp>
        <p:nvSpPr>
          <p:cNvPr id="62" name="Text 53"/>
          <p:cNvSpPr/>
          <p:nvPr/>
        </p:nvSpPr>
        <p:spPr>
          <a:xfrm>
            <a:off x="3090118" y="5499646"/>
            <a:ext cx="430113" cy="146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13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Техника</a:t>
            </a:r>
            <a:endParaRPr lang="en-US" sz="713" dirty="0"/>
          </a:p>
        </p:txBody>
      </p:sp>
      <p:sp>
        <p:nvSpPr>
          <p:cNvPr id="63" name="Text 54"/>
          <p:cNvSpPr/>
          <p:nvPr/>
        </p:nvSpPr>
        <p:spPr>
          <a:xfrm>
            <a:off x="209550" y="5855791"/>
            <a:ext cx="136453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Лучшие мастера</a:t>
            </a:r>
            <a:endParaRPr lang="en-US" sz="1200" dirty="0"/>
          </a:p>
        </p:txBody>
      </p:sp>
      <p:sp>
        <p:nvSpPr>
          <p:cNvPr id="64" name="Text 55"/>
          <p:cNvSpPr/>
          <p:nvPr/>
        </p:nvSpPr>
        <p:spPr>
          <a:xfrm>
            <a:off x="3378250" y="5879604"/>
            <a:ext cx="412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→</a:t>
            </a:r>
            <a:endParaRPr lang="en-US" sz="900" dirty="0"/>
          </a:p>
        </p:txBody>
      </p:sp>
      <p:sp>
        <p:nvSpPr>
          <p:cNvPr id="65" name="Shape 56"/>
          <p:cNvSpPr/>
          <p:nvPr/>
        </p:nvSpPr>
        <p:spPr>
          <a:xfrm>
            <a:off x="209550" y="6141541"/>
            <a:ext cx="1219200" cy="1285875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66" name="Shape 57"/>
          <p:cNvSpPr/>
          <p:nvPr/>
        </p:nvSpPr>
        <p:spPr>
          <a:xfrm>
            <a:off x="342900" y="6274891"/>
            <a:ext cx="457200" cy="457200"/>
          </a:xfrm>
          <a:prstGeom prst="roundRect">
            <a:avLst>
              <a:gd name="adj" fmla="val 29167"/>
            </a:avLst>
          </a:prstGeom>
          <a:gradFill rotWithShape="1">
            <a:gsLst>
              <a:gs pos="0">
                <a:srgbClr val="1A56DB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7" name="Text 58"/>
          <p:cNvSpPr/>
          <p:nvPr/>
        </p:nvSpPr>
        <p:spPr>
          <a:xfrm>
            <a:off x="451991" y="6408241"/>
            <a:ext cx="31506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ФТ</a:t>
            </a:r>
            <a:endParaRPr lang="en-US" sz="1275" dirty="0"/>
          </a:p>
        </p:txBody>
      </p:sp>
      <p:sp>
        <p:nvSpPr>
          <p:cNvPr id="68" name="Text 59"/>
          <p:cNvSpPr/>
          <p:nvPr/>
        </p:nvSpPr>
        <p:spPr>
          <a:xfrm>
            <a:off x="342900" y="6808291"/>
            <a:ext cx="1028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Фаррух Т.</a:t>
            </a:r>
            <a:endParaRPr lang="en-US" sz="900" dirty="0"/>
          </a:p>
        </p:txBody>
      </p:sp>
      <p:sp>
        <p:nvSpPr>
          <p:cNvPr id="69" name="Text 60"/>
          <p:cNvSpPr/>
          <p:nvPr/>
        </p:nvSpPr>
        <p:spPr>
          <a:xfrm>
            <a:off x="342900" y="6960691"/>
            <a:ext cx="1028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Сантехника</a:t>
            </a:r>
            <a:endParaRPr lang="en-US" sz="750" dirty="0"/>
          </a:p>
        </p:txBody>
      </p:sp>
      <p:pic>
        <p:nvPicPr>
          <p:cNvPr id="7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2900" y="7179766"/>
            <a:ext cx="95250" cy="9525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466725" y="7165479"/>
            <a:ext cx="2202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825" dirty="0"/>
          </a:p>
        </p:txBody>
      </p:sp>
      <p:sp>
        <p:nvSpPr>
          <p:cNvPr id="72" name="Text 62"/>
          <p:cNvSpPr/>
          <p:nvPr/>
        </p:nvSpPr>
        <p:spPr>
          <a:xfrm>
            <a:off x="639366" y="7160716"/>
            <a:ext cx="29676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(127)</a:t>
            </a:r>
            <a:endParaRPr lang="en-US" sz="750" dirty="0"/>
          </a:p>
        </p:txBody>
      </p:sp>
      <p:sp>
        <p:nvSpPr>
          <p:cNvPr id="73" name="Shape 63"/>
          <p:cNvSpPr/>
          <p:nvPr/>
        </p:nvSpPr>
        <p:spPr>
          <a:xfrm>
            <a:off x="1524000" y="6141541"/>
            <a:ext cx="1219200" cy="1285875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74" name="Shape 64"/>
          <p:cNvSpPr/>
          <p:nvPr/>
        </p:nvSpPr>
        <p:spPr>
          <a:xfrm>
            <a:off x="1657350" y="6274891"/>
            <a:ext cx="457200" cy="457200"/>
          </a:xfrm>
          <a:prstGeom prst="roundRect">
            <a:avLst>
              <a:gd name="adj" fmla="val 29167"/>
            </a:avLst>
          </a:prstGeom>
          <a:gradFill rotWithShape="1">
            <a:gsLst>
              <a:gs pos="0">
                <a:srgbClr val="059669">
                  <a:alpha val="100000"/>
                </a:srgbClr>
              </a:gs>
              <a:gs pos="100000">
                <a:srgbClr val="10B981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75" name="Text 65"/>
          <p:cNvSpPr/>
          <p:nvPr/>
        </p:nvSpPr>
        <p:spPr>
          <a:xfrm>
            <a:off x="1780133" y="6408241"/>
            <a:ext cx="2876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</a:t>
            </a:r>
            <a:endParaRPr lang="en-US" sz="1275" dirty="0"/>
          </a:p>
        </p:txBody>
      </p:sp>
      <p:sp>
        <p:nvSpPr>
          <p:cNvPr id="76" name="Text 66"/>
          <p:cNvSpPr/>
          <p:nvPr/>
        </p:nvSpPr>
        <p:spPr>
          <a:xfrm>
            <a:off x="1657350" y="6808291"/>
            <a:ext cx="1028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Рустам А.</a:t>
            </a:r>
            <a:endParaRPr lang="en-US" sz="900" dirty="0"/>
          </a:p>
        </p:txBody>
      </p:sp>
      <p:sp>
        <p:nvSpPr>
          <p:cNvPr id="77" name="Text 67"/>
          <p:cNvSpPr/>
          <p:nvPr/>
        </p:nvSpPr>
        <p:spPr>
          <a:xfrm>
            <a:off x="1657350" y="6960691"/>
            <a:ext cx="1028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Электрика</a:t>
            </a:r>
            <a:endParaRPr lang="en-US" sz="750" dirty="0"/>
          </a:p>
        </p:txBody>
      </p:sp>
      <p:pic>
        <p:nvPicPr>
          <p:cNvPr id="7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57350" y="7179766"/>
            <a:ext cx="95250" cy="95250"/>
          </a:xfrm>
          <a:prstGeom prst="rect">
            <a:avLst/>
          </a:prstGeom>
        </p:spPr>
      </p:pic>
      <p:sp>
        <p:nvSpPr>
          <p:cNvPr id="79" name="Text 68"/>
          <p:cNvSpPr/>
          <p:nvPr/>
        </p:nvSpPr>
        <p:spPr>
          <a:xfrm>
            <a:off x="1781175" y="7165479"/>
            <a:ext cx="2202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825" dirty="0"/>
          </a:p>
        </p:txBody>
      </p:sp>
      <p:sp>
        <p:nvSpPr>
          <p:cNvPr id="80" name="Text 69"/>
          <p:cNvSpPr/>
          <p:nvPr/>
        </p:nvSpPr>
        <p:spPr>
          <a:xfrm>
            <a:off x="1953816" y="7160716"/>
            <a:ext cx="27190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(89)</a:t>
            </a:r>
            <a:endParaRPr lang="en-US" sz="750" dirty="0"/>
          </a:p>
        </p:txBody>
      </p:sp>
      <p:sp>
        <p:nvSpPr>
          <p:cNvPr id="81" name="Shape 70"/>
          <p:cNvSpPr/>
          <p:nvPr/>
        </p:nvSpPr>
        <p:spPr>
          <a:xfrm>
            <a:off x="2838450" y="6141541"/>
            <a:ext cx="1219200" cy="1285875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82" name="Shape 71"/>
          <p:cNvSpPr/>
          <p:nvPr/>
        </p:nvSpPr>
        <p:spPr>
          <a:xfrm>
            <a:off x="2971800" y="6274891"/>
            <a:ext cx="457200" cy="457200"/>
          </a:xfrm>
          <a:prstGeom prst="roundRect">
            <a:avLst>
              <a:gd name="adj" fmla="val 29167"/>
            </a:avLst>
          </a:prstGeom>
          <a:gradFill rotWithShape="1">
            <a:gsLst>
              <a:gs pos="0">
                <a:srgbClr val="7C3AED">
                  <a:alpha val="100000"/>
                </a:srgbClr>
              </a:gs>
              <a:gs pos="100000">
                <a:srgbClr val="A78BF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83" name="Text 72"/>
          <p:cNvSpPr/>
          <p:nvPr/>
        </p:nvSpPr>
        <p:spPr>
          <a:xfrm>
            <a:off x="3081635" y="6408241"/>
            <a:ext cx="3137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</a:t>
            </a:r>
            <a:endParaRPr lang="en-US" sz="1275" dirty="0"/>
          </a:p>
        </p:txBody>
      </p:sp>
      <p:sp>
        <p:nvSpPr>
          <p:cNvPr id="84" name="Text 73"/>
          <p:cNvSpPr/>
          <p:nvPr/>
        </p:nvSpPr>
        <p:spPr>
          <a:xfrm>
            <a:off x="2971800" y="6808291"/>
            <a:ext cx="1028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Диловар Р.</a:t>
            </a:r>
            <a:endParaRPr lang="en-US" sz="900" dirty="0"/>
          </a:p>
        </p:txBody>
      </p:sp>
      <p:sp>
        <p:nvSpPr>
          <p:cNvPr id="85" name="Text 74"/>
          <p:cNvSpPr/>
          <p:nvPr/>
        </p:nvSpPr>
        <p:spPr>
          <a:xfrm>
            <a:off x="2971800" y="6960691"/>
            <a:ext cx="10287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Ремонт</a:t>
            </a:r>
            <a:endParaRPr lang="en-US" sz="750" dirty="0"/>
          </a:p>
        </p:txBody>
      </p:sp>
      <p:pic>
        <p:nvPicPr>
          <p:cNvPr id="8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971800" y="7179766"/>
            <a:ext cx="95250" cy="95250"/>
          </a:xfrm>
          <a:prstGeom prst="rect">
            <a:avLst/>
          </a:prstGeom>
        </p:spPr>
      </p:pic>
      <p:sp>
        <p:nvSpPr>
          <p:cNvPr id="87" name="Text 75"/>
          <p:cNvSpPr/>
          <p:nvPr/>
        </p:nvSpPr>
        <p:spPr>
          <a:xfrm>
            <a:off x="3095625" y="7165479"/>
            <a:ext cx="2202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825" dirty="0"/>
          </a:p>
        </p:txBody>
      </p:sp>
      <p:sp>
        <p:nvSpPr>
          <p:cNvPr id="88" name="Text 76"/>
          <p:cNvSpPr/>
          <p:nvPr/>
        </p:nvSpPr>
        <p:spPr>
          <a:xfrm>
            <a:off x="3268266" y="7160716"/>
            <a:ext cx="26893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(64)</a:t>
            </a:r>
            <a:endParaRPr lang="en-US" sz="750" dirty="0"/>
          </a:p>
        </p:txBody>
      </p:sp>
      <p:sp>
        <p:nvSpPr>
          <p:cNvPr id="89" name="Text 77"/>
          <p:cNvSpPr/>
          <p:nvPr/>
        </p:nvSpPr>
        <p:spPr>
          <a:xfrm>
            <a:off x="209550" y="7617916"/>
            <a:ext cx="385572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Активные заявки</a:t>
            </a:r>
            <a:endParaRPr lang="en-US" sz="1200" dirty="0"/>
          </a:p>
        </p:txBody>
      </p:sp>
      <p:sp>
        <p:nvSpPr>
          <p:cNvPr id="90" name="Shape 78"/>
          <p:cNvSpPr/>
          <p:nvPr/>
        </p:nvSpPr>
        <p:spPr>
          <a:xfrm>
            <a:off x="209550" y="7894141"/>
            <a:ext cx="3505200" cy="8572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91" name="Text 79"/>
          <p:cNvSpPr/>
          <p:nvPr/>
        </p:nvSpPr>
        <p:spPr>
          <a:xfrm>
            <a:off x="342900" y="8027491"/>
            <a:ext cx="27629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Починить кран на кухне</a:t>
            </a:r>
            <a:endParaRPr lang="en-US" sz="1050" dirty="0"/>
          </a:p>
        </p:txBody>
      </p:sp>
      <p:sp>
        <p:nvSpPr>
          <p:cNvPr id="92" name="Shape 80"/>
          <p:cNvSpPr/>
          <p:nvPr/>
        </p:nvSpPr>
        <p:spPr>
          <a:xfrm>
            <a:off x="2930872" y="8027491"/>
            <a:ext cx="650528" cy="180975"/>
          </a:xfrm>
          <a:prstGeom prst="roundRect">
            <a:avLst>
              <a:gd name="adj" fmla="val 36842"/>
            </a:avLst>
          </a:prstGeom>
          <a:solidFill>
            <a:srgbClr val="DBEAFE"/>
          </a:solidFill>
          <a:ln/>
        </p:spPr>
      </p:sp>
      <p:sp>
        <p:nvSpPr>
          <p:cNvPr id="93" name="Text 81"/>
          <p:cNvSpPr/>
          <p:nvPr/>
        </p:nvSpPr>
        <p:spPr>
          <a:xfrm>
            <a:off x="3007072" y="8056066"/>
            <a:ext cx="57432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отклика</a:t>
            </a:r>
            <a:endParaRPr lang="en-US" sz="825" dirty="0"/>
          </a:p>
        </p:txBody>
      </p:sp>
      <p:sp>
        <p:nvSpPr>
          <p:cNvPr id="94" name="Text 82"/>
          <p:cNvSpPr/>
          <p:nvPr/>
        </p:nvSpPr>
        <p:spPr>
          <a:xfrm>
            <a:off x="342900" y="8256091"/>
            <a:ext cx="3562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Сантехника · р-н Сино · 2 ч. назад</a:t>
            </a:r>
            <a:endParaRPr lang="en-US" sz="900" dirty="0"/>
          </a:p>
        </p:txBody>
      </p:sp>
      <p:sp>
        <p:nvSpPr>
          <p:cNvPr id="95" name="Shape 83"/>
          <p:cNvSpPr/>
          <p:nvPr/>
        </p:nvSpPr>
        <p:spPr>
          <a:xfrm>
            <a:off x="342900" y="8537079"/>
            <a:ext cx="2661791" cy="381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96" name="Shape 84"/>
          <p:cNvSpPr/>
          <p:nvPr/>
        </p:nvSpPr>
        <p:spPr>
          <a:xfrm>
            <a:off x="342900" y="8537079"/>
            <a:ext cx="1996232" cy="381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/>
        </p:spPr>
      </p:sp>
      <p:sp>
        <p:nvSpPr>
          <p:cNvPr id="97" name="Text 85"/>
          <p:cNvSpPr/>
          <p:nvPr/>
        </p:nvSpPr>
        <p:spPr>
          <a:xfrm>
            <a:off x="3061841" y="8494216"/>
            <a:ext cx="59575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охват</a:t>
            </a:r>
            <a:endParaRPr lang="en-US" sz="825" dirty="0"/>
          </a:p>
        </p:txBody>
      </p:sp>
      <p:sp>
        <p:nvSpPr>
          <p:cNvPr id="98" name="Shape 86"/>
          <p:cNvSpPr/>
          <p:nvPr/>
        </p:nvSpPr>
        <p:spPr>
          <a:xfrm>
            <a:off x="76200" y="8001000"/>
            <a:ext cx="377190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Shape 87"/>
          <p:cNvSpPr/>
          <p:nvPr/>
        </p:nvSpPr>
        <p:spPr>
          <a:xfrm>
            <a:off x="76200" y="8001000"/>
            <a:ext cx="3771900" cy="952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0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52438" y="8129588"/>
            <a:ext cx="190500" cy="190500"/>
          </a:xfrm>
          <a:prstGeom prst="rect">
            <a:avLst/>
          </a:prstGeom>
        </p:spPr>
      </p:pic>
      <p:sp>
        <p:nvSpPr>
          <p:cNvPr id="101" name="Text 88"/>
          <p:cNvSpPr/>
          <p:nvPr/>
        </p:nvSpPr>
        <p:spPr>
          <a:xfrm>
            <a:off x="334119" y="8348663"/>
            <a:ext cx="42698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endParaRPr lang="en-US" sz="713" dirty="0"/>
          </a:p>
        </p:txBody>
      </p:sp>
      <p:pic>
        <p:nvPicPr>
          <p:cNvPr id="10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95413" y="8129588"/>
            <a:ext cx="190500" cy="190500"/>
          </a:xfrm>
          <a:prstGeom prst="rect">
            <a:avLst/>
          </a:prstGeom>
        </p:spPr>
      </p:pic>
      <p:sp>
        <p:nvSpPr>
          <p:cNvPr id="103" name="Text 89"/>
          <p:cNvSpPr/>
          <p:nvPr/>
        </p:nvSpPr>
        <p:spPr>
          <a:xfrm>
            <a:off x="1297632" y="8348663"/>
            <a:ext cx="38591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</a:t>
            </a:r>
            <a:endParaRPr lang="en-US" sz="713" dirty="0"/>
          </a:p>
        </p:txBody>
      </p:sp>
      <p:pic>
        <p:nvPicPr>
          <p:cNvPr id="104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338388" y="8129588"/>
            <a:ext cx="190500" cy="190500"/>
          </a:xfrm>
          <a:prstGeom prst="rect">
            <a:avLst/>
          </a:prstGeom>
        </p:spPr>
      </p:pic>
      <p:sp>
        <p:nvSpPr>
          <p:cNvPr id="105" name="Text 90"/>
          <p:cNvSpPr/>
          <p:nvPr/>
        </p:nvSpPr>
        <p:spPr>
          <a:xfrm>
            <a:off x="2284065" y="8348663"/>
            <a:ext cx="29899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Чаты</a:t>
            </a:r>
            <a:endParaRPr lang="en-US" sz="713" dirty="0"/>
          </a:p>
        </p:txBody>
      </p:sp>
      <p:pic>
        <p:nvPicPr>
          <p:cNvPr id="106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281363" y="8129588"/>
            <a:ext cx="190500" cy="190500"/>
          </a:xfrm>
          <a:prstGeom prst="rect">
            <a:avLst/>
          </a:prstGeom>
        </p:spPr>
      </p:pic>
      <p:sp>
        <p:nvSpPr>
          <p:cNvPr id="107" name="Text 91"/>
          <p:cNvSpPr/>
          <p:nvPr/>
        </p:nvSpPr>
        <p:spPr>
          <a:xfrm>
            <a:off x="3137595" y="8348663"/>
            <a:ext cx="477887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713" dirty="0"/>
          </a:p>
        </p:txBody>
      </p:sp>
      <p:sp>
        <p:nvSpPr>
          <p:cNvPr id="108" name="Shape 92"/>
          <p:cNvSpPr/>
          <p:nvPr/>
        </p:nvSpPr>
        <p:spPr>
          <a:xfrm>
            <a:off x="1447800" y="8667750"/>
            <a:ext cx="1028700" cy="38100"/>
          </a:xfrm>
          <a:prstGeom prst="roundRect">
            <a:avLst>
              <a:gd name="adj" fmla="val 50000"/>
            </a:avLst>
          </a:prstGeom>
          <a:solidFill>
            <a:srgbClr val="171D1B">
              <a:alpha val="4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24300" cy="9258300"/>
          </a:xfrm>
          <a:prstGeom prst="roundRect">
            <a:avLst>
              <a:gd name="adj" fmla="val 5825"/>
            </a:avLst>
          </a:prstGeom>
          <a:gradFill rotWithShape="1">
            <a:gsLst>
              <a:gs pos="0">
                <a:srgbClr val="334155">
                  <a:alpha val="100000"/>
                </a:srgbClr>
              </a:gs>
              <a:gs pos="100000">
                <a:srgbClr val="1E293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3924300" cy="8496300"/>
          </a:xfrm>
          <a:prstGeom prst="roundRect">
            <a:avLst>
              <a:gd name="adj" fmla="val 4369"/>
            </a:avLst>
          </a:prstGeom>
          <a:solidFill>
            <a:srgbClr val="F4FBF8"/>
          </a:solidFill>
          <a:ln w="76200">
            <a:solidFill>
              <a:srgbClr val="74777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552450"/>
            <a:ext cx="344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1050" spc="19" kern="0" dirty="0">
                <a:solidFill>
                  <a:srgbClr val="17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47850" y="533400"/>
            <a:ext cx="228600" cy="2286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7550" y="571500"/>
            <a:ext cx="152400" cy="152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0900" y="571500"/>
            <a:ext cx="152400" cy="1524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300" y="571500"/>
            <a:ext cx="152400" cy="152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200" y="838200"/>
            <a:ext cx="3771900" cy="773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5"/>
          <p:cNvSpPr/>
          <p:nvPr/>
        </p:nvSpPr>
        <p:spPr>
          <a:xfrm>
            <a:off x="228600" y="9525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1F5F9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9088" y="1042988"/>
            <a:ext cx="161925" cy="1619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85800" y="971550"/>
            <a:ext cx="331089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заявка</a:t>
            </a:r>
            <a:endParaRPr lang="en-US" sz="1125" dirty="0"/>
          </a:p>
        </p:txBody>
      </p:sp>
      <p:sp>
        <p:nvSpPr>
          <p:cNvPr id="13" name="Text 7"/>
          <p:cNvSpPr/>
          <p:nvPr/>
        </p:nvSpPr>
        <p:spPr>
          <a:xfrm>
            <a:off x="685800" y="1143000"/>
            <a:ext cx="331089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1 из 5</a:t>
            </a:r>
            <a:endParaRPr lang="en-US" sz="750" dirty="0"/>
          </a:p>
        </p:txBody>
      </p:sp>
      <p:sp>
        <p:nvSpPr>
          <p:cNvPr id="14" name="Shape 8"/>
          <p:cNvSpPr/>
          <p:nvPr/>
        </p:nvSpPr>
        <p:spPr>
          <a:xfrm>
            <a:off x="228600" y="1390650"/>
            <a:ext cx="3467100" cy="381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5" name="Shape 9"/>
          <p:cNvSpPr/>
          <p:nvPr/>
        </p:nvSpPr>
        <p:spPr>
          <a:xfrm>
            <a:off x="228600" y="1390650"/>
            <a:ext cx="693390" cy="38100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/>
        </p:spPr>
      </p:sp>
      <p:sp>
        <p:nvSpPr>
          <p:cNvPr id="16" name="Text 10"/>
          <p:cNvSpPr/>
          <p:nvPr/>
        </p:nvSpPr>
        <p:spPr>
          <a:xfrm>
            <a:off x="228600" y="1581150"/>
            <a:ext cx="38138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сделать?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228600" y="1838325"/>
            <a:ext cx="381381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Чӣ бояд кард?</a:t>
            </a:r>
            <a:endParaRPr lang="en-US" sz="825" dirty="0"/>
          </a:p>
        </p:txBody>
      </p:sp>
      <p:sp>
        <p:nvSpPr>
          <p:cNvPr id="18" name="Shape 12"/>
          <p:cNvSpPr/>
          <p:nvPr/>
        </p:nvSpPr>
        <p:spPr>
          <a:xfrm>
            <a:off x="228600" y="2095500"/>
            <a:ext cx="1438573" cy="381000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71475" y="2181225"/>
            <a:ext cx="2664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37877" y="2214563"/>
            <a:ext cx="772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Сантехника</a:t>
            </a:r>
            <a:endParaRPr lang="en-US" sz="975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09998" y="2228850"/>
            <a:ext cx="114300" cy="1143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228600" y="2609850"/>
            <a:ext cx="3467100" cy="1123950"/>
          </a:xfrm>
          <a:prstGeom prst="roundRect">
            <a:avLst>
              <a:gd name="adj" fmla="val 11864"/>
            </a:avLst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2609850"/>
            <a:ext cx="3467100" cy="11239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28600" y="3829050"/>
            <a:ext cx="9456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Мин. 10 символов</a:t>
            </a:r>
            <a:endParaRPr lang="en-US" sz="825" dirty="0"/>
          </a:p>
        </p:txBody>
      </p:sp>
      <p:sp>
        <p:nvSpPr>
          <p:cNvPr id="25" name="Text 17"/>
          <p:cNvSpPr/>
          <p:nvPr/>
        </p:nvSpPr>
        <p:spPr>
          <a:xfrm>
            <a:off x="3405188" y="3829050"/>
            <a:ext cx="3667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0/300</a:t>
            </a:r>
            <a:endParaRPr lang="en-US" sz="825" dirty="0"/>
          </a:p>
        </p:txBody>
      </p:sp>
      <p:sp>
        <p:nvSpPr>
          <p:cNvPr id="26" name="Text 18"/>
          <p:cNvSpPr/>
          <p:nvPr/>
        </p:nvSpPr>
        <p:spPr>
          <a:xfrm>
            <a:off x="228600" y="4105275"/>
            <a:ext cx="38138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Быстрые шаблоны: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228600" y="4305300"/>
            <a:ext cx="884337" cy="238125"/>
          </a:xfrm>
          <a:prstGeom prst="roundRect">
            <a:avLst>
              <a:gd name="adj" fmla="val 32000"/>
            </a:avLst>
          </a:prstGeom>
          <a:solidFill>
            <a:srgbClr val="F1F5F9"/>
          </a:solidFill>
          <a:ln/>
        </p:spPr>
      </p:sp>
      <p:sp>
        <p:nvSpPr>
          <p:cNvPr id="28" name="Text 20"/>
          <p:cNvSpPr/>
          <p:nvPr/>
        </p:nvSpPr>
        <p:spPr>
          <a:xfrm>
            <a:off x="323850" y="4352925"/>
            <a:ext cx="7700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Течёт кран 💧</a:t>
            </a:r>
            <a:endParaRPr lang="en-US" sz="825" dirty="0"/>
          </a:p>
        </p:txBody>
      </p:sp>
      <p:sp>
        <p:nvSpPr>
          <p:cNvPr id="29" name="Shape 21"/>
          <p:cNvSpPr/>
          <p:nvPr/>
        </p:nvSpPr>
        <p:spPr>
          <a:xfrm>
            <a:off x="1170087" y="4305300"/>
            <a:ext cx="963960" cy="238125"/>
          </a:xfrm>
          <a:prstGeom prst="roundRect">
            <a:avLst>
              <a:gd name="adj" fmla="val 32000"/>
            </a:avLst>
          </a:prstGeom>
          <a:solidFill>
            <a:srgbClr val="F1F5F9"/>
          </a:solidFill>
          <a:ln/>
        </p:spPr>
      </p:sp>
      <p:sp>
        <p:nvSpPr>
          <p:cNvPr id="30" name="Text 22"/>
          <p:cNvSpPr/>
          <p:nvPr/>
        </p:nvSpPr>
        <p:spPr>
          <a:xfrm>
            <a:off x="1265337" y="4352925"/>
            <a:ext cx="8496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Засор трубы 🚿</a:t>
            </a:r>
            <a:endParaRPr lang="en-US" sz="825" dirty="0"/>
          </a:p>
        </p:txBody>
      </p:sp>
      <p:sp>
        <p:nvSpPr>
          <p:cNvPr id="31" name="Shape 23"/>
          <p:cNvSpPr/>
          <p:nvPr/>
        </p:nvSpPr>
        <p:spPr>
          <a:xfrm>
            <a:off x="2191196" y="4305300"/>
            <a:ext cx="1127820" cy="238125"/>
          </a:xfrm>
          <a:prstGeom prst="roundRect">
            <a:avLst>
              <a:gd name="adj" fmla="val 32000"/>
            </a:avLst>
          </a:prstGeom>
          <a:solidFill>
            <a:srgbClr val="F1F5F9"/>
          </a:solidFill>
          <a:ln/>
        </p:spPr>
      </p:sp>
      <p:sp>
        <p:nvSpPr>
          <p:cNvPr id="32" name="Text 24"/>
          <p:cNvSpPr/>
          <p:nvPr/>
        </p:nvSpPr>
        <p:spPr>
          <a:xfrm>
            <a:off x="2286446" y="4352925"/>
            <a:ext cx="10135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Замена смесителя</a:t>
            </a:r>
            <a:endParaRPr lang="en-US" sz="825" dirty="0"/>
          </a:p>
        </p:txBody>
      </p:sp>
      <p:sp>
        <p:nvSpPr>
          <p:cNvPr id="33" name="Shape 25"/>
          <p:cNvSpPr/>
          <p:nvPr/>
        </p:nvSpPr>
        <p:spPr>
          <a:xfrm>
            <a:off x="228600" y="4600575"/>
            <a:ext cx="818852" cy="238125"/>
          </a:xfrm>
          <a:prstGeom prst="roundRect">
            <a:avLst>
              <a:gd name="adj" fmla="val 32000"/>
            </a:avLst>
          </a:prstGeom>
          <a:solidFill>
            <a:srgbClr val="F1F5F9"/>
          </a:solidFill>
          <a:ln/>
        </p:spPr>
      </p:sp>
      <p:sp>
        <p:nvSpPr>
          <p:cNvPr id="34" name="Text 26"/>
          <p:cNvSpPr/>
          <p:nvPr/>
        </p:nvSpPr>
        <p:spPr>
          <a:xfrm>
            <a:off x="323850" y="4648200"/>
            <a:ext cx="70455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Протечка 🌊</a:t>
            </a:r>
            <a:endParaRPr lang="en-US" sz="825" dirty="0"/>
          </a:p>
        </p:txBody>
      </p:sp>
      <p:sp>
        <p:nvSpPr>
          <p:cNvPr id="35" name="Shape 27"/>
          <p:cNvSpPr/>
          <p:nvPr/>
        </p:nvSpPr>
        <p:spPr>
          <a:xfrm>
            <a:off x="76200" y="7820025"/>
            <a:ext cx="3771900" cy="752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28"/>
          <p:cNvSpPr/>
          <p:nvPr/>
        </p:nvSpPr>
        <p:spPr>
          <a:xfrm>
            <a:off x="76200" y="7820025"/>
            <a:ext cx="37719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Shape 29"/>
          <p:cNvSpPr/>
          <p:nvPr/>
        </p:nvSpPr>
        <p:spPr>
          <a:xfrm>
            <a:off x="228600" y="7943850"/>
            <a:ext cx="3467100" cy="495300"/>
          </a:xfrm>
          <a:prstGeom prst="roundRect">
            <a:avLst>
              <a:gd name="adj" fmla="val 26923"/>
            </a:avLst>
          </a:prstGeom>
          <a:solidFill>
            <a:srgbClr val="1A56DB"/>
          </a:solidFill>
          <a:ln/>
        </p:spPr>
      </p:sp>
      <p:sp>
        <p:nvSpPr>
          <p:cNvPr id="38" name="Text 30"/>
          <p:cNvSpPr/>
          <p:nvPr/>
        </p:nvSpPr>
        <p:spPr>
          <a:xfrm>
            <a:off x="233744" y="7953375"/>
            <a:ext cx="345681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Далее →</a:t>
            </a:r>
            <a:endParaRPr lang="en-US" sz="1125" dirty="0"/>
          </a:p>
        </p:txBody>
      </p:sp>
      <p:sp>
        <p:nvSpPr>
          <p:cNvPr id="39" name="Shape 31"/>
          <p:cNvSpPr/>
          <p:nvPr/>
        </p:nvSpPr>
        <p:spPr>
          <a:xfrm>
            <a:off x="1447800" y="8667750"/>
            <a:ext cx="1028700" cy="38100"/>
          </a:xfrm>
          <a:prstGeom prst="roundRect">
            <a:avLst>
              <a:gd name="adj" fmla="val 50000"/>
            </a:avLst>
          </a:prstGeom>
          <a:solidFill>
            <a:srgbClr val="171D1B">
              <a:alpha val="4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24300" cy="9258300"/>
          </a:xfrm>
          <a:prstGeom prst="roundRect">
            <a:avLst>
              <a:gd name="adj" fmla="val 5825"/>
            </a:avLst>
          </a:prstGeom>
          <a:gradFill rotWithShape="1">
            <a:gsLst>
              <a:gs pos="0">
                <a:srgbClr val="334155">
                  <a:alpha val="100000"/>
                </a:srgbClr>
              </a:gs>
              <a:gs pos="100000">
                <a:srgbClr val="1E293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3924300" cy="8496300"/>
          </a:xfrm>
          <a:prstGeom prst="roundRect">
            <a:avLst>
              <a:gd name="adj" fmla="val 4369"/>
            </a:avLst>
          </a:prstGeom>
          <a:solidFill>
            <a:srgbClr val="F4FBF8"/>
          </a:solidFill>
          <a:ln w="76200">
            <a:solidFill>
              <a:srgbClr val="74777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552450"/>
            <a:ext cx="344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1050" spc="19" kern="0" dirty="0">
                <a:solidFill>
                  <a:srgbClr val="17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47850" y="533400"/>
            <a:ext cx="228600" cy="2286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7550" y="571500"/>
            <a:ext cx="152400" cy="152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0900" y="571500"/>
            <a:ext cx="152400" cy="1524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300" y="571500"/>
            <a:ext cx="152400" cy="152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200" y="838200"/>
            <a:ext cx="3771900" cy="77343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5"/>
          <p:cNvSpPr/>
          <p:nvPr/>
        </p:nvSpPr>
        <p:spPr>
          <a:xfrm>
            <a:off x="76200" y="838200"/>
            <a:ext cx="3771900" cy="581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6"/>
          <p:cNvSpPr/>
          <p:nvPr/>
        </p:nvSpPr>
        <p:spPr>
          <a:xfrm>
            <a:off x="76200" y="1409700"/>
            <a:ext cx="37719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7"/>
          <p:cNvSpPr/>
          <p:nvPr/>
        </p:nvSpPr>
        <p:spPr>
          <a:xfrm>
            <a:off x="209550" y="9525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1F5F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0038" y="1042988"/>
            <a:ext cx="161925" cy="1619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6750" y="971550"/>
            <a:ext cx="172289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Починить кран на кухне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66750" y="1133475"/>
            <a:ext cx="172289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Сантехника · р-н Сино</a:t>
            </a:r>
            <a:endParaRPr lang="en-US" sz="825" dirty="0"/>
          </a:p>
        </p:txBody>
      </p:sp>
      <p:sp>
        <p:nvSpPr>
          <p:cNvPr id="16" name="Shape 10"/>
          <p:cNvSpPr/>
          <p:nvPr/>
        </p:nvSpPr>
        <p:spPr>
          <a:xfrm>
            <a:off x="76200" y="1419225"/>
            <a:ext cx="3771900" cy="400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1"/>
          <p:cNvSpPr/>
          <p:nvPr/>
        </p:nvSpPr>
        <p:spPr>
          <a:xfrm>
            <a:off x="76200" y="1809750"/>
            <a:ext cx="37719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2"/>
          <p:cNvSpPr/>
          <p:nvPr/>
        </p:nvSpPr>
        <p:spPr>
          <a:xfrm>
            <a:off x="209550" y="1514475"/>
            <a:ext cx="101054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12 просмотров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277243" y="1514475"/>
            <a:ext cx="7890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4 отклика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119140" y="1524000"/>
            <a:ext cx="595610" cy="180975"/>
          </a:xfrm>
          <a:prstGeom prst="roundRect">
            <a:avLst>
              <a:gd name="adj" fmla="val 36842"/>
            </a:avLst>
          </a:prstGeom>
          <a:solidFill>
            <a:srgbClr val="D1FAE5"/>
          </a:solidFill>
          <a:ln/>
        </p:spPr>
      </p:sp>
      <p:sp>
        <p:nvSpPr>
          <p:cNvPr id="21" name="Text 15"/>
          <p:cNvSpPr/>
          <p:nvPr/>
        </p:nvSpPr>
        <p:spPr>
          <a:xfrm>
            <a:off x="3204865" y="1552575"/>
            <a:ext cx="5003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Активна</a:t>
            </a:r>
            <a:endParaRPr lang="en-US" sz="825" dirty="0"/>
          </a:p>
        </p:txBody>
      </p:sp>
      <p:sp>
        <p:nvSpPr>
          <p:cNvPr id="22" name="Shape 16"/>
          <p:cNvSpPr/>
          <p:nvPr/>
        </p:nvSpPr>
        <p:spPr>
          <a:xfrm>
            <a:off x="209550" y="1933575"/>
            <a:ext cx="3505200" cy="17716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42900" y="2066925"/>
            <a:ext cx="419100" cy="419100"/>
          </a:xfrm>
          <a:prstGeom prst="roundRect">
            <a:avLst>
              <a:gd name="adj" fmla="val 29545"/>
            </a:avLst>
          </a:prstGeom>
          <a:gradFill rotWithShape="1">
            <a:gsLst>
              <a:gs pos="0">
                <a:srgbClr val="1A56DB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4" name="Text 18"/>
          <p:cNvSpPr/>
          <p:nvPr/>
        </p:nvSpPr>
        <p:spPr>
          <a:xfrm>
            <a:off x="454075" y="2195513"/>
            <a:ext cx="27295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ФТ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57250" y="2138363"/>
            <a:ext cx="112499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Фаррух Турсунов</a:t>
            </a:r>
            <a:endParaRPr lang="en-US" sz="975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3667" y="2147888"/>
            <a:ext cx="123825" cy="123825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7250" y="2300288"/>
            <a:ext cx="95250" cy="9525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81075" y="2286000"/>
            <a:ext cx="2202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825" dirty="0"/>
          </a:p>
        </p:txBody>
      </p:sp>
      <p:sp>
        <p:nvSpPr>
          <p:cNvPr id="29" name="Text 21"/>
          <p:cNvSpPr/>
          <p:nvPr/>
        </p:nvSpPr>
        <p:spPr>
          <a:xfrm>
            <a:off x="1153716" y="2281238"/>
            <a:ext cx="29676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(127)</a:t>
            </a:r>
            <a:endParaRPr lang="en-US" sz="750" dirty="0"/>
          </a:p>
        </p:txBody>
      </p:sp>
      <p:sp>
        <p:nvSpPr>
          <p:cNvPr id="30" name="Text 22"/>
          <p:cNvSpPr/>
          <p:nvPr/>
        </p:nvSpPr>
        <p:spPr>
          <a:xfrm>
            <a:off x="2881759" y="2100263"/>
            <a:ext cx="6996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</a:t>
            </a:r>
            <a:endParaRPr lang="en-US" sz="1425" dirty="0"/>
          </a:p>
        </p:txBody>
      </p:sp>
      <p:sp>
        <p:nvSpPr>
          <p:cNvPr id="31" name="Text 23"/>
          <p:cNvSpPr/>
          <p:nvPr/>
        </p:nvSpPr>
        <p:spPr>
          <a:xfrm>
            <a:off x="2881759" y="2319338"/>
            <a:ext cx="6996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TJS · 2 ч назад</a:t>
            </a:r>
            <a:endParaRPr lang="en-US" sz="750" dirty="0"/>
          </a:p>
        </p:txBody>
      </p:sp>
      <p:sp>
        <p:nvSpPr>
          <p:cNvPr id="32" name="Shape 24"/>
          <p:cNvSpPr/>
          <p:nvPr/>
        </p:nvSpPr>
        <p:spPr>
          <a:xfrm>
            <a:off x="342900" y="2581275"/>
            <a:ext cx="3238500" cy="533400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/>
        </p:spPr>
      </p:sp>
      <p:sp>
        <p:nvSpPr>
          <p:cNvPr id="33" name="Text 25"/>
          <p:cNvSpPr/>
          <p:nvPr/>
        </p:nvSpPr>
        <p:spPr>
          <a:xfrm>
            <a:off x="457200" y="2676525"/>
            <a:ext cx="310705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Добрый день! Опыт 8 лет, гарантия 1 год. Могу приехать сегодня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342900" y="3209925"/>
            <a:ext cx="926753" cy="361950"/>
          </a:xfrm>
          <a:prstGeom prst="roundRect">
            <a:avLst>
              <a:gd name="adj" fmla="val 26316"/>
            </a:avLst>
          </a:prstGeom>
          <a:solidFill>
            <a:srgbClr val="EFF6FF"/>
          </a:solidFill>
          <a:ln/>
        </p:spPr>
      </p:sp>
      <p:sp>
        <p:nvSpPr>
          <p:cNvPr id="35" name="Text 27"/>
          <p:cNvSpPr/>
          <p:nvPr/>
        </p:nvSpPr>
        <p:spPr>
          <a:xfrm>
            <a:off x="361950" y="3219450"/>
            <a:ext cx="8886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Чат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1336328" y="3209925"/>
            <a:ext cx="926753" cy="361950"/>
          </a:xfrm>
          <a:prstGeom prst="roundRect">
            <a:avLst>
              <a:gd name="adj" fmla="val 26316"/>
            </a:avLst>
          </a:prstGeom>
          <a:solidFill>
            <a:srgbClr val="F1F5F9"/>
          </a:solidFill>
          <a:ln/>
        </p:spPr>
      </p:sp>
      <p:sp>
        <p:nvSpPr>
          <p:cNvPr id="37" name="Text 29"/>
          <p:cNvSpPr/>
          <p:nvPr/>
        </p:nvSpPr>
        <p:spPr>
          <a:xfrm>
            <a:off x="1355378" y="3219450"/>
            <a:ext cx="8886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2329755" y="3209925"/>
            <a:ext cx="1251645" cy="361950"/>
          </a:xfrm>
          <a:prstGeom prst="roundRect">
            <a:avLst>
              <a:gd name="adj" fmla="val 26316"/>
            </a:avLst>
          </a:prstGeom>
          <a:solidFill>
            <a:srgbClr val="1A56DB"/>
          </a:solidFill>
          <a:ln/>
        </p:spPr>
      </p:sp>
      <p:sp>
        <p:nvSpPr>
          <p:cNvPr id="39" name="Text 31"/>
          <p:cNvSpPr/>
          <p:nvPr/>
        </p:nvSpPr>
        <p:spPr>
          <a:xfrm>
            <a:off x="2348805" y="3219450"/>
            <a:ext cx="12135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✓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209550" y="3800475"/>
            <a:ext cx="3505200" cy="16002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342900" y="3933825"/>
            <a:ext cx="419100" cy="419100"/>
          </a:xfrm>
          <a:prstGeom prst="roundRect">
            <a:avLst>
              <a:gd name="adj" fmla="val 29545"/>
            </a:avLst>
          </a:prstGeom>
          <a:gradFill rotWithShape="1">
            <a:gsLst>
              <a:gs pos="0">
                <a:srgbClr val="059669">
                  <a:alpha val="100000"/>
                </a:srgbClr>
              </a:gs>
              <a:gs pos="100000">
                <a:srgbClr val="10B981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2" name="Text 34"/>
          <p:cNvSpPr/>
          <p:nvPr/>
        </p:nvSpPr>
        <p:spPr>
          <a:xfrm>
            <a:off x="458986" y="4062412"/>
            <a:ext cx="26297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857250" y="4005262"/>
            <a:ext cx="11556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Рустам Исмоилов</a:t>
            </a:r>
            <a:endParaRPr lang="en-US" sz="975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84325" y="4014788"/>
            <a:ext cx="123825" cy="123825"/>
          </a:xfrm>
          <a:prstGeom prst="rect">
            <a:avLst/>
          </a:prstGeom>
        </p:spPr>
      </p:pic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7250" y="4167188"/>
            <a:ext cx="95250" cy="9525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981075" y="4152900"/>
            <a:ext cx="2202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825" dirty="0"/>
          </a:p>
        </p:txBody>
      </p:sp>
      <p:sp>
        <p:nvSpPr>
          <p:cNvPr id="47" name="Text 37"/>
          <p:cNvSpPr/>
          <p:nvPr/>
        </p:nvSpPr>
        <p:spPr>
          <a:xfrm>
            <a:off x="1153716" y="4148137"/>
            <a:ext cx="26863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(45)</a:t>
            </a:r>
            <a:endParaRPr lang="en-US" sz="750" dirty="0"/>
          </a:p>
        </p:txBody>
      </p:sp>
      <p:sp>
        <p:nvSpPr>
          <p:cNvPr id="48" name="Text 38"/>
          <p:cNvSpPr/>
          <p:nvPr/>
        </p:nvSpPr>
        <p:spPr>
          <a:xfrm>
            <a:off x="2883396" y="3967163"/>
            <a:ext cx="6980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</a:t>
            </a:r>
            <a:endParaRPr lang="en-US" sz="1425" dirty="0"/>
          </a:p>
        </p:txBody>
      </p:sp>
      <p:sp>
        <p:nvSpPr>
          <p:cNvPr id="49" name="Text 39"/>
          <p:cNvSpPr/>
          <p:nvPr/>
        </p:nvSpPr>
        <p:spPr>
          <a:xfrm>
            <a:off x="2883396" y="4186238"/>
            <a:ext cx="69800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TJS · 3 ч назад</a:t>
            </a:r>
            <a:endParaRPr lang="en-US" sz="750" dirty="0"/>
          </a:p>
        </p:txBody>
      </p:sp>
      <p:sp>
        <p:nvSpPr>
          <p:cNvPr id="50" name="Shape 40"/>
          <p:cNvSpPr/>
          <p:nvPr/>
        </p:nvSpPr>
        <p:spPr>
          <a:xfrm>
            <a:off x="342900" y="4448175"/>
            <a:ext cx="3238500" cy="361950"/>
          </a:xfrm>
          <a:prstGeom prst="roundRect">
            <a:avLst>
              <a:gd name="adj" fmla="val 26316"/>
            </a:avLst>
          </a:prstGeom>
          <a:solidFill>
            <a:srgbClr val="F8FAFC"/>
          </a:solidFill>
          <a:ln/>
        </p:spPr>
      </p:sp>
      <p:sp>
        <p:nvSpPr>
          <p:cNvPr id="51" name="Text 41"/>
          <p:cNvSpPr/>
          <p:nvPr/>
        </p:nvSpPr>
        <p:spPr>
          <a:xfrm>
            <a:off x="457200" y="4543425"/>
            <a:ext cx="31070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Могу сегодня после 14:00. Все инструменты при себе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342900" y="4905375"/>
            <a:ext cx="926753" cy="361950"/>
          </a:xfrm>
          <a:prstGeom prst="roundRect">
            <a:avLst>
              <a:gd name="adj" fmla="val 26316"/>
            </a:avLst>
          </a:prstGeom>
          <a:solidFill>
            <a:srgbClr val="EFF6FF"/>
          </a:solidFill>
          <a:ln/>
        </p:spPr>
      </p:sp>
      <p:sp>
        <p:nvSpPr>
          <p:cNvPr id="53" name="Text 43"/>
          <p:cNvSpPr/>
          <p:nvPr/>
        </p:nvSpPr>
        <p:spPr>
          <a:xfrm>
            <a:off x="361950" y="4914900"/>
            <a:ext cx="8886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Чат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1336328" y="4905375"/>
            <a:ext cx="926753" cy="361950"/>
          </a:xfrm>
          <a:prstGeom prst="roundRect">
            <a:avLst>
              <a:gd name="adj" fmla="val 26316"/>
            </a:avLst>
          </a:prstGeom>
          <a:solidFill>
            <a:srgbClr val="F1F5F9"/>
          </a:solidFill>
          <a:ln/>
        </p:spPr>
      </p:sp>
      <p:sp>
        <p:nvSpPr>
          <p:cNvPr id="55" name="Text 45"/>
          <p:cNvSpPr/>
          <p:nvPr/>
        </p:nvSpPr>
        <p:spPr>
          <a:xfrm>
            <a:off x="1355378" y="4914900"/>
            <a:ext cx="8886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2329755" y="4905375"/>
            <a:ext cx="1251645" cy="361950"/>
          </a:xfrm>
          <a:prstGeom prst="roundRect">
            <a:avLst>
              <a:gd name="adj" fmla="val 26316"/>
            </a:avLst>
          </a:prstGeom>
          <a:solidFill>
            <a:srgbClr val="1A56DB"/>
          </a:solidFill>
          <a:ln/>
        </p:spPr>
      </p:sp>
      <p:sp>
        <p:nvSpPr>
          <p:cNvPr id="57" name="Text 47"/>
          <p:cNvSpPr/>
          <p:nvPr/>
        </p:nvSpPr>
        <p:spPr>
          <a:xfrm>
            <a:off x="2348805" y="4914900"/>
            <a:ext cx="12135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✓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209550" y="5495925"/>
            <a:ext cx="3505200" cy="16002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</p:sp>
      <p:sp>
        <p:nvSpPr>
          <p:cNvPr id="59" name="Shape 49"/>
          <p:cNvSpPr/>
          <p:nvPr/>
        </p:nvSpPr>
        <p:spPr>
          <a:xfrm>
            <a:off x="342900" y="5629275"/>
            <a:ext cx="419100" cy="419100"/>
          </a:xfrm>
          <a:prstGeom prst="roundRect">
            <a:avLst>
              <a:gd name="adj" fmla="val 29545"/>
            </a:avLst>
          </a:prstGeom>
          <a:gradFill rotWithShape="1">
            <a:gsLst>
              <a:gs pos="0">
                <a:srgbClr val="7C3AED">
                  <a:alpha val="100000"/>
                </a:srgbClr>
              </a:gs>
              <a:gs pos="100000">
                <a:srgbClr val="A78BF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0" name="Text 50"/>
          <p:cNvSpPr/>
          <p:nvPr/>
        </p:nvSpPr>
        <p:spPr>
          <a:xfrm>
            <a:off x="460028" y="5757863"/>
            <a:ext cx="26089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БН</a:t>
            </a:r>
            <a:endParaRPr lang="en-US" sz="1050" dirty="0"/>
          </a:p>
        </p:txBody>
      </p:sp>
      <p:sp>
        <p:nvSpPr>
          <p:cNvPr id="61" name="Text 51"/>
          <p:cNvSpPr/>
          <p:nvPr/>
        </p:nvSpPr>
        <p:spPr>
          <a:xfrm>
            <a:off x="857250" y="5700713"/>
            <a:ext cx="112171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Баходур Назаров</a:t>
            </a:r>
            <a:endParaRPr lang="en-US" sz="975" dirty="0"/>
          </a:p>
        </p:txBody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950393" y="5710238"/>
            <a:ext cx="123825" cy="123825"/>
          </a:xfrm>
          <a:prstGeom prst="rect">
            <a:avLst/>
          </a:prstGeom>
        </p:spPr>
      </p:pic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7250" y="5862638"/>
            <a:ext cx="95250" cy="95250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981075" y="5848350"/>
            <a:ext cx="2202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825" dirty="0"/>
          </a:p>
        </p:txBody>
      </p:sp>
      <p:sp>
        <p:nvSpPr>
          <p:cNvPr id="65" name="Text 53"/>
          <p:cNvSpPr/>
          <p:nvPr/>
        </p:nvSpPr>
        <p:spPr>
          <a:xfrm>
            <a:off x="1153716" y="5843588"/>
            <a:ext cx="27190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(89)</a:t>
            </a:r>
            <a:endParaRPr lang="en-US" sz="750" dirty="0"/>
          </a:p>
        </p:txBody>
      </p:sp>
      <p:sp>
        <p:nvSpPr>
          <p:cNvPr id="66" name="Text 54"/>
          <p:cNvSpPr/>
          <p:nvPr/>
        </p:nvSpPr>
        <p:spPr>
          <a:xfrm>
            <a:off x="2879973" y="5662613"/>
            <a:ext cx="70142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1425" dirty="0"/>
          </a:p>
        </p:txBody>
      </p:sp>
      <p:sp>
        <p:nvSpPr>
          <p:cNvPr id="67" name="Text 55"/>
          <p:cNvSpPr/>
          <p:nvPr/>
        </p:nvSpPr>
        <p:spPr>
          <a:xfrm>
            <a:off x="2879973" y="5881688"/>
            <a:ext cx="7014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TJS · 4 ч назад</a:t>
            </a:r>
            <a:endParaRPr lang="en-US" sz="750" dirty="0"/>
          </a:p>
        </p:txBody>
      </p:sp>
      <p:sp>
        <p:nvSpPr>
          <p:cNvPr id="68" name="Shape 56"/>
          <p:cNvSpPr/>
          <p:nvPr/>
        </p:nvSpPr>
        <p:spPr>
          <a:xfrm>
            <a:off x="342900" y="6143625"/>
            <a:ext cx="3238500" cy="361950"/>
          </a:xfrm>
          <a:prstGeom prst="roundRect">
            <a:avLst>
              <a:gd name="adj" fmla="val 26316"/>
            </a:avLst>
          </a:prstGeom>
          <a:solidFill>
            <a:srgbClr val="F8FAFC"/>
          </a:solidFill>
          <a:ln/>
        </p:spPr>
      </p:sp>
      <p:sp>
        <p:nvSpPr>
          <p:cNvPr id="69" name="Text 57"/>
          <p:cNvSpPr/>
          <p:nvPr/>
        </p:nvSpPr>
        <p:spPr>
          <a:xfrm>
            <a:off x="457200" y="6238875"/>
            <a:ext cx="31070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Качественно, гарантия 6 мес. Портфолио в профиле</a:t>
            </a:r>
            <a:endParaRPr lang="en-US" sz="900" dirty="0"/>
          </a:p>
        </p:txBody>
      </p:sp>
      <p:sp>
        <p:nvSpPr>
          <p:cNvPr id="70" name="Shape 58"/>
          <p:cNvSpPr/>
          <p:nvPr/>
        </p:nvSpPr>
        <p:spPr>
          <a:xfrm>
            <a:off x="342900" y="6600825"/>
            <a:ext cx="926753" cy="361950"/>
          </a:xfrm>
          <a:prstGeom prst="roundRect">
            <a:avLst>
              <a:gd name="adj" fmla="val 26316"/>
            </a:avLst>
          </a:prstGeom>
          <a:solidFill>
            <a:srgbClr val="EFF6FF"/>
          </a:solidFill>
          <a:ln/>
        </p:spPr>
      </p:sp>
      <p:sp>
        <p:nvSpPr>
          <p:cNvPr id="71" name="Text 59"/>
          <p:cNvSpPr/>
          <p:nvPr/>
        </p:nvSpPr>
        <p:spPr>
          <a:xfrm>
            <a:off x="361950" y="6610350"/>
            <a:ext cx="8886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Чат</a:t>
            </a:r>
            <a:endParaRPr lang="en-US" sz="900" dirty="0"/>
          </a:p>
        </p:txBody>
      </p:sp>
      <p:sp>
        <p:nvSpPr>
          <p:cNvPr id="72" name="Shape 60"/>
          <p:cNvSpPr/>
          <p:nvPr/>
        </p:nvSpPr>
        <p:spPr>
          <a:xfrm>
            <a:off x="1336328" y="6600825"/>
            <a:ext cx="926753" cy="361950"/>
          </a:xfrm>
          <a:prstGeom prst="roundRect">
            <a:avLst>
              <a:gd name="adj" fmla="val 26316"/>
            </a:avLst>
          </a:prstGeom>
          <a:solidFill>
            <a:srgbClr val="F1F5F9"/>
          </a:solidFill>
          <a:ln/>
        </p:spPr>
      </p:sp>
      <p:sp>
        <p:nvSpPr>
          <p:cNvPr id="73" name="Text 61"/>
          <p:cNvSpPr/>
          <p:nvPr/>
        </p:nvSpPr>
        <p:spPr>
          <a:xfrm>
            <a:off x="1355378" y="6610350"/>
            <a:ext cx="8886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900" dirty="0"/>
          </a:p>
        </p:txBody>
      </p:sp>
      <p:sp>
        <p:nvSpPr>
          <p:cNvPr id="74" name="Shape 62"/>
          <p:cNvSpPr/>
          <p:nvPr/>
        </p:nvSpPr>
        <p:spPr>
          <a:xfrm>
            <a:off x="2329755" y="6600825"/>
            <a:ext cx="1251645" cy="361950"/>
          </a:xfrm>
          <a:prstGeom prst="roundRect">
            <a:avLst>
              <a:gd name="adj" fmla="val 26316"/>
            </a:avLst>
          </a:prstGeom>
          <a:solidFill>
            <a:srgbClr val="1A56DB"/>
          </a:solidFill>
          <a:ln/>
        </p:spPr>
      </p:sp>
      <p:sp>
        <p:nvSpPr>
          <p:cNvPr id="75" name="Text 63"/>
          <p:cNvSpPr/>
          <p:nvPr/>
        </p:nvSpPr>
        <p:spPr>
          <a:xfrm>
            <a:off x="2348805" y="6610350"/>
            <a:ext cx="12135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✓</a:t>
            </a:r>
            <a:endParaRPr lang="en-US" sz="900" dirty="0"/>
          </a:p>
        </p:txBody>
      </p:sp>
      <p:sp>
        <p:nvSpPr>
          <p:cNvPr id="76" name="Shape 64"/>
          <p:cNvSpPr/>
          <p:nvPr/>
        </p:nvSpPr>
        <p:spPr>
          <a:xfrm>
            <a:off x="209550" y="7191375"/>
            <a:ext cx="3505200" cy="16002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</p:sp>
      <p:sp>
        <p:nvSpPr>
          <p:cNvPr id="77" name="Shape 65"/>
          <p:cNvSpPr/>
          <p:nvPr/>
        </p:nvSpPr>
        <p:spPr>
          <a:xfrm>
            <a:off x="342900" y="7324725"/>
            <a:ext cx="419100" cy="419100"/>
          </a:xfrm>
          <a:prstGeom prst="roundRect">
            <a:avLst>
              <a:gd name="adj" fmla="val 29545"/>
            </a:avLst>
          </a:prstGeom>
          <a:gradFill rotWithShape="1">
            <a:gsLst>
              <a:gs pos="0">
                <a:srgbClr val="D97706">
                  <a:alpha val="100000"/>
                </a:srgbClr>
              </a:gs>
              <a:gs pos="100000">
                <a:srgbClr val="F59E0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78" name="Text 66"/>
          <p:cNvSpPr/>
          <p:nvPr/>
        </p:nvSpPr>
        <p:spPr>
          <a:xfrm>
            <a:off x="466874" y="7453312"/>
            <a:ext cx="24720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</a:t>
            </a:r>
            <a:endParaRPr lang="en-US" sz="1050" dirty="0"/>
          </a:p>
        </p:txBody>
      </p:sp>
      <p:sp>
        <p:nvSpPr>
          <p:cNvPr id="79" name="Text 67"/>
          <p:cNvSpPr/>
          <p:nvPr/>
        </p:nvSpPr>
        <p:spPr>
          <a:xfrm>
            <a:off x="857250" y="7396162"/>
            <a:ext cx="8663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Умар Саидов</a:t>
            </a:r>
            <a:endParaRPr lang="en-US" sz="975" dirty="0"/>
          </a:p>
        </p:txBody>
      </p:sp>
      <p:pic>
        <p:nvPicPr>
          <p:cNvPr id="8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95004" y="7405688"/>
            <a:ext cx="123825" cy="123825"/>
          </a:xfrm>
          <a:prstGeom prst="rect">
            <a:avLst/>
          </a:prstGeom>
        </p:spPr>
      </p:pic>
      <p:pic>
        <p:nvPicPr>
          <p:cNvPr id="81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7250" y="7558088"/>
            <a:ext cx="95250" cy="95250"/>
          </a:xfrm>
          <a:prstGeom prst="rect">
            <a:avLst/>
          </a:prstGeom>
        </p:spPr>
      </p:pic>
      <p:sp>
        <p:nvSpPr>
          <p:cNvPr id="82" name="Text 68"/>
          <p:cNvSpPr/>
          <p:nvPr/>
        </p:nvSpPr>
        <p:spPr>
          <a:xfrm>
            <a:off x="981075" y="7543800"/>
            <a:ext cx="22026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825" dirty="0"/>
          </a:p>
        </p:txBody>
      </p:sp>
      <p:sp>
        <p:nvSpPr>
          <p:cNvPr id="83" name="Text 69"/>
          <p:cNvSpPr/>
          <p:nvPr/>
        </p:nvSpPr>
        <p:spPr>
          <a:xfrm>
            <a:off x="1153716" y="7539037"/>
            <a:ext cx="24735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(31)</a:t>
            </a:r>
            <a:endParaRPr lang="en-US" sz="750" dirty="0"/>
          </a:p>
        </p:txBody>
      </p:sp>
      <p:sp>
        <p:nvSpPr>
          <p:cNvPr id="84" name="Text 70"/>
          <p:cNvSpPr/>
          <p:nvPr/>
        </p:nvSpPr>
        <p:spPr>
          <a:xfrm>
            <a:off x="2881015" y="7358063"/>
            <a:ext cx="70038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1425" dirty="0"/>
          </a:p>
        </p:txBody>
      </p:sp>
      <p:sp>
        <p:nvSpPr>
          <p:cNvPr id="85" name="Text 71"/>
          <p:cNvSpPr/>
          <p:nvPr/>
        </p:nvSpPr>
        <p:spPr>
          <a:xfrm>
            <a:off x="2881015" y="7577138"/>
            <a:ext cx="7003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TJS · 5 ч назад</a:t>
            </a:r>
            <a:endParaRPr lang="en-US" sz="750" dirty="0"/>
          </a:p>
        </p:txBody>
      </p:sp>
      <p:sp>
        <p:nvSpPr>
          <p:cNvPr id="86" name="Shape 72"/>
          <p:cNvSpPr/>
          <p:nvPr/>
        </p:nvSpPr>
        <p:spPr>
          <a:xfrm>
            <a:off x="342900" y="7839075"/>
            <a:ext cx="3238500" cy="361950"/>
          </a:xfrm>
          <a:prstGeom prst="roundRect">
            <a:avLst>
              <a:gd name="adj" fmla="val 26316"/>
            </a:avLst>
          </a:prstGeom>
          <a:solidFill>
            <a:srgbClr val="F8FAFC"/>
          </a:solidFill>
          <a:ln/>
        </p:spPr>
      </p:sp>
      <p:sp>
        <p:nvSpPr>
          <p:cNvPr id="87" name="Text 73"/>
          <p:cNvSpPr/>
          <p:nvPr/>
        </p:nvSpPr>
        <p:spPr>
          <a:xfrm>
            <a:off x="457200" y="7934325"/>
            <a:ext cx="31070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Недорого и быстро. Звоните, обсудим детали</a:t>
            </a:r>
            <a:endParaRPr lang="en-US" sz="900" dirty="0"/>
          </a:p>
        </p:txBody>
      </p:sp>
      <p:sp>
        <p:nvSpPr>
          <p:cNvPr id="88" name="Shape 74"/>
          <p:cNvSpPr/>
          <p:nvPr/>
        </p:nvSpPr>
        <p:spPr>
          <a:xfrm>
            <a:off x="342900" y="8296275"/>
            <a:ext cx="926753" cy="361950"/>
          </a:xfrm>
          <a:prstGeom prst="roundRect">
            <a:avLst>
              <a:gd name="adj" fmla="val 26316"/>
            </a:avLst>
          </a:prstGeom>
          <a:solidFill>
            <a:srgbClr val="EFF6FF"/>
          </a:solidFill>
          <a:ln/>
        </p:spPr>
      </p:sp>
      <p:sp>
        <p:nvSpPr>
          <p:cNvPr id="89" name="Text 75"/>
          <p:cNvSpPr/>
          <p:nvPr/>
        </p:nvSpPr>
        <p:spPr>
          <a:xfrm>
            <a:off x="361950" y="8305800"/>
            <a:ext cx="8886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Чат</a:t>
            </a:r>
            <a:endParaRPr lang="en-US" sz="900" dirty="0"/>
          </a:p>
        </p:txBody>
      </p:sp>
      <p:sp>
        <p:nvSpPr>
          <p:cNvPr id="90" name="Shape 76"/>
          <p:cNvSpPr/>
          <p:nvPr/>
        </p:nvSpPr>
        <p:spPr>
          <a:xfrm>
            <a:off x="1336328" y="8296275"/>
            <a:ext cx="926753" cy="361950"/>
          </a:xfrm>
          <a:prstGeom prst="roundRect">
            <a:avLst>
              <a:gd name="adj" fmla="val 26316"/>
            </a:avLst>
          </a:prstGeom>
          <a:solidFill>
            <a:srgbClr val="F1F5F9"/>
          </a:solidFill>
          <a:ln/>
        </p:spPr>
      </p:sp>
      <p:sp>
        <p:nvSpPr>
          <p:cNvPr id="91" name="Text 77"/>
          <p:cNvSpPr/>
          <p:nvPr/>
        </p:nvSpPr>
        <p:spPr>
          <a:xfrm>
            <a:off x="1355378" y="8305800"/>
            <a:ext cx="8886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900" dirty="0"/>
          </a:p>
        </p:txBody>
      </p:sp>
      <p:sp>
        <p:nvSpPr>
          <p:cNvPr id="92" name="Shape 78"/>
          <p:cNvSpPr/>
          <p:nvPr/>
        </p:nvSpPr>
        <p:spPr>
          <a:xfrm>
            <a:off x="2329755" y="8296275"/>
            <a:ext cx="1251645" cy="361950"/>
          </a:xfrm>
          <a:prstGeom prst="roundRect">
            <a:avLst>
              <a:gd name="adj" fmla="val 26316"/>
            </a:avLst>
          </a:prstGeom>
          <a:solidFill>
            <a:srgbClr val="1A56DB"/>
          </a:solidFill>
          <a:ln/>
        </p:spPr>
      </p:sp>
      <p:sp>
        <p:nvSpPr>
          <p:cNvPr id="93" name="Text 79"/>
          <p:cNvSpPr/>
          <p:nvPr/>
        </p:nvSpPr>
        <p:spPr>
          <a:xfrm>
            <a:off x="2348805" y="8305800"/>
            <a:ext cx="12135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✓</a:t>
            </a:r>
            <a:endParaRPr lang="en-US" sz="900" dirty="0"/>
          </a:p>
        </p:txBody>
      </p:sp>
      <p:sp>
        <p:nvSpPr>
          <p:cNvPr id="94" name="Shape 80"/>
          <p:cNvSpPr/>
          <p:nvPr/>
        </p:nvSpPr>
        <p:spPr>
          <a:xfrm>
            <a:off x="1447800" y="8667750"/>
            <a:ext cx="1028700" cy="38100"/>
          </a:xfrm>
          <a:prstGeom prst="roundRect">
            <a:avLst>
              <a:gd name="adj" fmla="val 50000"/>
            </a:avLst>
          </a:prstGeom>
          <a:solidFill>
            <a:srgbClr val="171D1B">
              <a:alpha val="4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24300" cy="9258300"/>
          </a:xfrm>
          <a:prstGeom prst="roundRect">
            <a:avLst>
              <a:gd name="adj" fmla="val 5825"/>
            </a:avLst>
          </a:prstGeom>
          <a:gradFill rotWithShape="1">
            <a:gsLst>
              <a:gs pos="0">
                <a:srgbClr val="334155">
                  <a:alpha val="100000"/>
                </a:srgbClr>
              </a:gs>
              <a:gs pos="100000">
                <a:srgbClr val="1E293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3924300" cy="8496300"/>
          </a:xfrm>
          <a:prstGeom prst="roundRect">
            <a:avLst>
              <a:gd name="adj" fmla="val 4369"/>
            </a:avLst>
          </a:prstGeom>
          <a:solidFill>
            <a:srgbClr val="F4FBF8"/>
          </a:solidFill>
          <a:ln w="76200">
            <a:solidFill>
              <a:srgbClr val="74777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552450"/>
            <a:ext cx="344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1050" spc="19" kern="0" dirty="0">
                <a:solidFill>
                  <a:srgbClr val="17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47850" y="533400"/>
            <a:ext cx="228600" cy="2286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7550" y="571500"/>
            <a:ext cx="152400" cy="152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0900" y="571500"/>
            <a:ext cx="152400" cy="1524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300" y="571500"/>
            <a:ext cx="152400" cy="152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200" y="838200"/>
            <a:ext cx="3771900" cy="77343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5"/>
          <p:cNvSpPr/>
          <p:nvPr/>
        </p:nvSpPr>
        <p:spPr>
          <a:xfrm>
            <a:off x="76200" y="838200"/>
            <a:ext cx="3771900" cy="2105025"/>
          </a:xfrm>
          <a:prstGeom prst="rect">
            <a:avLst/>
          </a:prstGeom>
          <a:gradFill rotWithShape="1">
            <a:gsLst>
              <a:gs pos="0">
                <a:srgbClr val="0F172A">
                  <a:alpha val="100000"/>
                </a:srgbClr>
              </a:gs>
              <a:gs pos="100000">
                <a:srgbClr val="1E3A8A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11" name="Shape 6"/>
          <p:cNvSpPr/>
          <p:nvPr/>
        </p:nvSpPr>
        <p:spPr>
          <a:xfrm>
            <a:off x="209550" y="97155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0038" y="1062038"/>
            <a:ext cx="142875" cy="14287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09550" y="1428750"/>
            <a:ext cx="666750" cy="666750"/>
          </a:xfrm>
          <a:prstGeom prst="roundRect">
            <a:avLst>
              <a:gd name="adj" fmla="val 31429"/>
            </a:avLst>
          </a:prstGeom>
          <a:gradFill rotWithShape="1">
            <a:gsLst>
              <a:gs pos="0">
                <a:srgbClr val="1A56DB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2700000" scaled="0"/>
          </a:gradFill>
          <a:ln w="2857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00025" y="145732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ФТ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1009650" y="1428750"/>
            <a:ext cx="29756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Фаррух Турсунов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1009650" y="1685925"/>
            <a:ext cx="653951" cy="142875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1085850" y="1704975"/>
            <a:ext cx="56694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Личность</a:t>
            </a:r>
            <a:endParaRPr lang="en-US" sz="713" dirty="0"/>
          </a:p>
        </p:txBody>
      </p:sp>
      <p:sp>
        <p:nvSpPr>
          <p:cNvPr id="18" name="Shape 12"/>
          <p:cNvSpPr/>
          <p:nvPr/>
        </p:nvSpPr>
        <p:spPr>
          <a:xfrm>
            <a:off x="1720751" y="1685925"/>
            <a:ext cx="426095" cy="142875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1796951" y="1704975"/>
            <a:ext cx="3163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Тест</a:t>
            </a:r>
            <a:endParaRPr lang="en-US" sz="713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9650" y="1919288"/>
            <a:ext cx="114300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71575" y="1895475"/>
            <a:ext cx="25955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1402556" y="1895475"/>
            <a:ext cx="81215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(127 отзывов)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209550" y="2228850"/>
            <a:ext cx="3505200" cy="523875"/>
          </a:xfrm>
          <a:prstGeom prst="roundRect">
            <a:avLst>
              <a:gd name="adj" fmla="val 25455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4" name="Shape 17"/>
          <p:cNvSpPr/>
          <p:nvPr/>
        </p:nvSpPr>
        <p:spPr>
          <a:xfrm>
            <a:off x="1371600" y="2228850"/>
            <a:ext cx="9525" cy="52387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171450" y="2333625"/>
            <a:ext cx="1238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75" dirty="0"/>
          </a:p>
        </p:txBody>
      </p:sp>
      <p:sp>
        <p:nvSpPr>
          <p:cNvPr id="26" name="Text 19"/>
          <p:cNvSpPr/>
          <p:nvPr/>
        </p:nvSpPr>
        <p:spPr>
          <a:xfrm>
            <a:off x="171450" y="2524125"/>
            <a:ext cx="12382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заказов</a:t>
            </a:r>
            <a:endParaRPr lang="en-US" sz="713" dirty="0"/>
          </a:p>
        </p:txBody>
      </p:sp>
      <p:sp>
        <p:nvSpPr>
          <p:cNvPr id="27" name="Shape 20"/>
          <p:cNvSpPr/>
          <p:nvPr/>
        </p:nvSpPr>
        <p:spPr>
          <a:xfrm>
            <a:off x="2543175" y="2228850"/>
            <a:ext cx="9525" cy="52387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1343025" y="2333625"/>
            <a:ext cx="1238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75" dirty="0"/>
          </a:p>
        </p:txBody>
      </p:sp>
      <p:sp>
        <p:nvSpPr>
          <p:cNvPr id="29" name="Text 22"/>
          <p:cNvSpPr/>
          <p:nvPr/>
        </p:nvSpPr>
        <p:spPr>
          <a:xfrm>
            <a:off x="1343025" y="2524125"/>
            <a:ext cx="12382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лет опыта</a:t>
            </a:r>
            <a:endParaRPr lang="en-US" sz="713" dirty="0"/>
          </a:p>
        </p:txBody>
      </p:sp>
      <p:sp>
        <p:nvSpPr>
          <p:cNvPr id="30" name="Text 23"/>
          <p:cNvSpPr/>
          <p:nvPr/>
        </p:nvSpPr>
        <p:spPr>
          <a:xfrm>
            <a:off x="2514600" y="2333625"/>
            <a:ext cx="1238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275" dirty="0"/>
          </a:p>
        </p:txBody>
      </p:sp>
      <p:sp>
        <p:nvSpPr>
          <p:cNvPr id="31" name="Text 24"/>
          <p:cNvSpPr/>
          <p:nvPr/>
        </p:nvSpPr>
        <p:spPr>
          <a:xfrm>
            <a:off x="2514600" y="2524125"/>
            <a:ext cx="12382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</a:t>
            </a:r>
            <a:endParaRPr lang="en-US" sz="713" dirty="0"/>
          </a:p>
        </p:txBody>
      </p:sp>
      <p:sp>
        <p:nvSpPr>
          <p:cNvPr id="32" name="Text 25"/>
          <p:cNvSpPr/>
          <p:nvPr/>
        </p:nvSpPr>
        <p:spPr>
          <a:xfrm>
            <a:off x="209550" y="3076575"/>
            <a:ext cx="38557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8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УСЛУГИ</a:t>
            </a:r>
            <a:endParaRPr lang="en-US" sz="825" dirty="0"/>
          </a:p>
        </p:txBody>
      </p:sp>
      <p:sp>
        <p:nvSpPr>
          <p:cNvPr id="33" name="Shape 26"/>
          <p:cNvSpPr/>
          <p:nvPr/>
        </p:nvSpPr>
        <p:spPr>
          <a:xfrm>
            <a:off x="209550" y="3267075"/>
            <a:ext cx="1021407" cy="257175"/>
          </a:xfrm>
          <a:prstGeom prst="roundRect">
            <a:avLst>
              <a:gd name="adj" fmla="val 29630"/>
            </a:avLst>
          </a:prstGeom>
          <a:solidFill>
            <a:srgbClr val="EFF6FF"/>
          </a:solidFill>
          <a:ln/>
        </p:spPr>
      </p:sp>
      <p:sp>
        <p:nvSpPr>
          <p:cNvPr id="34" name="Text 27"/>
          <p:cNvSpPr/>
          <p:nvPr/>
        </p:nvSpPr>
        <p:spPr>
          <a:xfrm>
            <a:off x="314325" y="3314700"/>
            <a:ext cx="88805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Сантехника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1297632" y="3267075"/>
            <a:ext cx="891332" cy="257175"/>
          </a:xfrm>
          <a:prstGeom prst="roundRect">
            <a:avLst>
              <a:gd name="adj" fmla="val 29630"/>
            </a:avLst>
          </a:prstGeom>
          <a:solidFill>
            <a:srgbClr val="F1F5F9"/>
          </a:solidFill>
          <a:ln/>
        </p:spPr>
      </p:sp>
      <p:sp>
        <p:nvSpPr>
          <p:cNvPr id="36" name="Text 29"/>
          <p:cNvSpPr/>
          <p:nvPr/>
        </p:nvSpPr>
        <p:spPr>
          <a:xfrm>
            <a:off x="1402407" y="3314700"/>
            <a:ext cx="75798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Замена труб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2255639" y="3267075"/>
            <a:ext cx="821085" cy="257175"/>
          </a:xfrm>
          <a:prstGeom prst="roundRect">
            <a:avLst>
              <a:gd name="adj" fmla="val 29630"/>
            </a:avLst>
          </a:prstGeom>
          <a:solidFill>
            <a:srgbClr val="F1F5F9"/>
          </a:solidFill>
          <a:ln/>
        </p:spPr>
      </p:sp>
      <p:sp>
        <p:nvSpPr>
          <p:cNvPr id="38" name="Text 31"/>
          <p:cNvSpPr/>
          <p:nvPr/>
        </p:nvSpPr>
        <p:spPr>
          <a:xfrm>
            <a:off x="2360414" y="3314700"/>
            <a:ext cx="6877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Смесители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209550" y="3590925"/>
            <a:ext cx="726430" cy="257175"/>
          </a:xfrm>
          <a:prstGeom prst="roundRect">
            <a:avLst>
              <a:gd name="adj" fmla="val 29630"/>
            </a:avLst>
          </a:prstGeom>
          <a:solidFill>
            <a:srgbClr val="F1F5F9"/>
          </a:solidFill>
          <a:ln/>
        </p:spPr>
      </p:sp>
      <p:sp>
        <p:nvSpPr>
          <p:cNvPr id="40" name="Text 33"/>
          <p:cNvSpPr/>
          <p:nvPr/>
        </p:nvSpPr>
        <p:spPr>
          <a:xfrm>
            <a:off x="314325" y="3638550"/>
            <a:ext cx="5930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Счётчики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209550" y="3981450"/>
            <a:ext cx="38557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8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МАСТЕРЕ</a:t>
            </a:r>
            <a:endParaRPr lang="en-US" sz="825" dirty="0"/>
          </a:p>
        </p:txBody>
      </p:sp>
      <p:sp>
        <p:nvSpPr>
          <p:cNvPr id="42" name="Shape 35"/>
          <p:cNvSpPr/>
          <p:nvPr/>
        </p:nvSpPr>
        <p:spPr>
          <a:xfrm>
            <a:off x="209550" y="4171950"/>
            <a:ext cx="3505200" cy="822871"/>
          </a:xfrm>
          <a:prstGeom prst="roundRect">
            <a:avLst>
              <a:gd name="adj" fmla="val 16205"/>
            </a:avLst>
          </a:prstGeom>
          <a:solidFill>
            <a:srgbClr val="FFFFFF"/>
          </a:solidFill>
          <a:ln/>
        </p:spPr>
      </p:sp>
      <p:sp>
        <p:nvSpPr>
          <p:cNvPr id="43" name="Text 36"/>
          <p:cNvSpPr/>
          <p:nvPr/>
        </p:nvSpPr>
        <p:spPr>
          <a:xfrm>
            <a:off x="323850" y="4286250"/>
            <a:ext cx="3381756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Занимаюсь сантехникой 8 лет. Работаю быстро, с гарантией на все виды работ. Выезжаю во все районы Душанбе.</a:t>
            </a:r>
            <a:endParaRPr lang="en-US" sz="975" dirty="0"/>
          </a:p>
        </p:txBody>
      </p:sp>
      <p:sp>
        <p:nvSpPr>
          <p:cNvPr id="44" name="Text 37"/>
          <p:cNvSpPr/>
          <p:nvPr/>
        </p:nvSpPr>
        <p:spPr>
          <a:xfrm>
            <a:off x="209550" y="5128171"/>
            <a:ext cx="38557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8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ПОРТФОЛИО</a:t>
            </a:r>
            <a:endParaRPr lang="en-US" sz="825" dirty="0"/>
          </a:p>
        </p:txBody>
      </p:sp>
      <p:sp>
        <p:nvSpPr>
          <p:cNvPr id="45" name="Shape 38"/>
          <p:cNvSpPr/>
          <p:nvPr/>
        </p:nvSpPr>
        <p:spPr>
          <a:xfrm>
            <a:off x="209550" y="5328196"/>
            <a:ext cx="1117699" cy="1117699"/>
          </a:xfrm>
          <a:prstGeom prst="roundRect">
            <a:avLst>
              <a:gd name="adj" fmla="val 10226"/>
            </a:avLst>
          </a:prstGeom>
          <a:gradFill rotWithShape="1">
            <a:gsLst>
              <a:gs pos="0">
                <a:srgbClr val="1E3A8A">
                  <a:alpha val="100000"/>
                </a:srgbClr>
              </a:gs>
              <a:gs pos="100000">
                <a:srgbClr val="1A56D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6" name="Text 39"/>
          <p:cNvSpPr/>
          <p:nvPr/>
        </p:nvSpPr>
        <p:spPr>
          <a:xfrm>
            <a:off x="171450" y="5328196"/>
            <a:ext cx="1193899" cy="115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🚿</a:t>
            </a:r>
            <a:endParaRPr lang="en-US" sz="1650" dirty="0"/>
          </a:p>
        </p:txBody>
      </p:sp>
      <p:sp>
        <p:nvSpPr>
          <p:cNvPr id="47" name="Shape 40"/>
          <p:cNvSpPr/>
          <p:nvPr/>
        </p:nvSpPr>
        <p:spPr>
          <a:xfrm>
            <a:off x="1403449" y="5328196"/>
            <a:ext cx="1117699" cy="1117699"/>
          </a:xfrm>
          <a:prstGeom prst="roundRect">
            <a:avLst>
              <a:gd name="adj" fmla="val 10226"/>
            </a:avLst>
          </a:prstGeom>
          <a:gradFill rotWithShape="1">
            <a:gsLst>
              <a:gs pos="0">
                <a:srgbClr val="064E3B">
                  <a:alpha val="100000"/>
                </a:srgbClr>
              </a:gs>
              <a:gs pos="100000">
                <a:srgbClr val="059669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48" name="Text 41"/>
          <p:cNvSpPr/>
          <p:nvPr/>
        </p:nvSpPr>
        <p:spPr>
          <a:xfrm>
            <a:off x="1365349" y="5328196"/>
            <a:ext cx="1193899" cy="115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1650" dirty="0"/>
          </a:p>
        </p:txBody>
      </p:sp>
      <p:sp>
        <p:nvSpPr>
          <p:cNvPr id="49" name="Shape 42"/>
          <p:cNvSpPr/>
          <p:nvPr/>
        </p:nvSpPr>
        <p:spPr>
          <a:xfrm>
            <a:off x="2597348" y="5328196"/>
            <a:ext cx="1117699" cy="1117699"/>
          </a:xfrm>
          <a:prstGeom prst="roundRect">
            <a:avLst>
              <a:gd name="adj" fmla="val 10226"/>
            </a:avLst>
          </a:prstGeom>
          <a:gradFill rotWithShape="1">
            <a:gsLst>
              <a:gs pos="0">
                <a:srgbClr val="4C1D9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0" name="Text 43"/>
          <p:cNvSpPr/>
          <p:nvPr/>
        </p:nvSpPr>
        <p:spPr>
          <a:xfrm>
            <a:off x="2559248" y="5328196"/>
            <a:ext cx="1193899" cy="1155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650" dirty="0"/>
          </a:p>
        </p:txBody>
      </p:sp>
      <p:sp>
        <p:nvSpPr>
          <p:cNvPr id="51" name="Shape 44"/>
          <p:cNvSpPr/>
          <p:nvPr/>
        </p:nvSpPr>
        <p:spPr>
          <a:xfrm>
            <a:off x="209550" y="6522095"/>
            <a:ext cx="1117699" cy="1117699"/>
          </a:xfrm>
          <a:prstGeom prst="roundRect">
            <a:avLst>
              <a:gd name="adj" fmla="val 10226"/>
            </a:avLst>
          </a:prstGeom>
          <a:solidFill>
            <a:srgbClr val="F1F5F9"/>
          </a:solidFill>
          <a:ln/>
        </p:spPr>
      </p:sp>
      <p:sp>
        <p:nvSpPr>
          <p:cNvPr id="52" name="Text 45"/>
          <p:cNvSpPr/>
          <p:nvPr/>
        </p:nvSpPr>
        <p:spPr>
          <a:xfrm>
            <a:off x="551557" y="7014270"/>
            <a:ext cx="4336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 фото</a:t>
            </a:r>
            <a:endParaRPr lang="en-US" sz="750" dirty="0"/>
          </a:p>
        </p:txBody>
      </p:sp>
      <p:sp>
        <p:nvSpPr>
          <p:cNvPr id="53" name="Text 46"/>
          <p:cNvSpPr/>
          <p:nvPr/>
        </p:nvSpPr>
        <p:spPr>
          <a:xfrm>
            <a:off x="209550" y="7772995"/>
            <a:ext cx="38557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8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ОТЗЫВЫ (127)</a:t>
            </a:r>
            <a:endParaRPr lang="en-US" sz="825" dirty="0"/>
          </a:p>
        </p:txBody>
      </p:sp>
      <p:sp>
        <p:nvSpPr>
          <p:cNvPr id="54" name="Shape 47"/>
          <p:cNvSpPr/>
          <p:nvPr/>
        </p:nvSpPr>
        <p:spPr>
          <a:xfrm>
            <a:off x="209550" y="7992070"/>
            <a:ext cx="3505200" cy="10858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/>
        </p:spPr>
      </p:sp>
      <p:sp>
        <p:nvSpPr>
          <p:cNvPr id="55" name="Shape 48"/>
          <p:cNvSpPr/>
          <p:nvPr/>
        </p:nvSpPr>
        <p:spPr>
          <a:xfrm>
            <a:off x="333375" y="8115895"/>
            <a:ext cx="266700" cy="2667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D97706">
                  <a:alpha val="100000"/>
                </a:srgbClr>
              </a:gs>
              <a:gs pos="100000">
                <a:srgbClr val="F59E0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6" name="Text 49"/>
          <p:cNvSpPr/>
          <p:nvPr/>
        </p:nvSpPr>
        <p:spPr>
          <a:xfrm>
            <a:off x="295275" y="811589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endParaRPr lang="en-US" sz="675" dirty="0"/>
          </a:p>
        </p:txBody>
      </p:sp>
      <p:sp>
        <p:nvSpPr>
          <p:cNvPr id="57" name="Text 50"/>
          <p:cNvSpPr/>
          <p:nvPr/>
        </p:nvSpPr>
        <p:spPr>
          <a:xfrm>
            <a:off x="666750" y="8182570"/>
            <a:ext cx="7103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Нилуфар А.</a:t>
            </a:r>
            <a:endParaRPr lang="en-US" sz="900" dirty="0"/>
          </a:p>
        </p:txBody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76575" y="8201620"/>
            <a:ext cx="95250" cy="95250"/>
          </a:xfrm>
          <a:prstGeom prst="rect">
            <a:avLst/>
          </a:prstGeom>
        </p:spPr>
      </p:pic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81350" y="8201620"/>
            <a:ext cx="95250" cy="95250"/>
          </a:xfrm>
          <a:prstGeom prst="rect">
            <a:avLst/>
          </a:prstGeom>
        </p:spPr>
      </p:pic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86125" y="8201620"/>
            <a:ext cx="95250" cy="95250"/>
          </a:xfrm>
          <a:prstGeom prst="rect">
            <a:avLst/>
          </a:prstGeom>
        </p:spPr>
      </p:pic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90900" y="8201620"/>
            <a:ext cx="95250" cy="95250"/>
          </a:xfrm>
          <a:prstGeom prst="rect">
            <a:avLst/>
          </a:prstGeom>
        </p:spPr>
      </p:pic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495675" y="8201620"/>
            <a:ext cx="95250" cy="95250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333375" y="8439745"/>
            <a:ext cx="335527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Отличный мастер! Пришёл вовремя, всё сделал чисто. Кран больше не течёт!</a:t>
            </a:r>
            <a:endParaRPr lang="en-US" sz="900" dirty="0"/>
          </a:p>
        </p:txBody>
      </p:sp>
      <p:sp>
        <p:nvSpPr>
          <p:cNvPr id="64" name="Text 52"/>
          <p:cNvSpPr/>
          <p:nvPr/>
        </p:nvSpPr>
        <p:spPr>
          <a:xfrm>
            <a:off x="333375" y="8820745"/>
            <a:ext cx="3583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июня 2024 · Сантехника</a:t>
            </a:r>
            <a:endParaRPr lang="en-US" sz="750" dirty="0"/>
          </a:p>
        </p:txBody>
      </p:sp>
      <p:sp>
        <p:nvSpPr>
          <p:cNvPr id="65" name="Shape 53"/>
          <p:cNvSpPr/>
          <p:nvPr/>
        </p:nvSpPr>
        <p:spPr>
          <a:xfrm>
            <a:off x="209550" y="9154120"/>
            <a:ext cx="35052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</p:spPr>
      </p:sp>
      <p:sp>
        <p:nvSpPr>
          <p:cNvPr id="66" name="Shape 54"/>
          <p:cNvSpPr/>
          <p:nvPr/>
        </p:nvSpPr>
        <p:spPr>
          <a:xfrm>
            <a:off x="333375" y="9277945"/>
            <a:ext cx="266700" cy="26670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059669">
                  <a:alpha val="100000"/>
                </a:srgbClr>
              </a:gs>
              <a:gs pos="100000">
                <a:srgbClr val="10B981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7" name="Text 55"/>
          <p:cNvSpPr/>
          <p:nvPr/>
        </p:nvSpPr>
        <p:spPr>
          <a:xfrm>
            <a:off x="295275" y="927794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</a:t>
            </a:r>
            <a:endParaRPr lang="en-US" sz="675" dirty="0"/>
          </a:p>
        </p:txBody>
      </p:sp>
      <p:sp>
        <p:nvSpPr>
          <p:cNvPr id="68" name="Text 56"/>
          <p:cNvSpPr/>
          <p:nvPr/>
        </p:nvSpPr>
        <p:spPr>
          <a:xfrm>
            <a:off x="666750" y="9344620"/>
            <a:ext cx="5893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Давид М.</a:t>
            </a:r>
            <a:endParaRPr lang="en-US" sz="900" dirty="0"/>
          </a:p>
        </p:txBody>
      </p:sp>
      <p:pic>
        <p:nvPicPr>
          <p:cNvPr id="6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076575" y="9363670"/>
            <a:ext cx="95250" cy="95250"/>
          </a:xfrm>
          <a:prstGeom prst="rect">
            <a:avLst/>
          </a:prstGeom>
        </p:spPr>
      </p:pic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181350" y="9363670"/>
            <a:ext cx="95250" cy="95250"/>
          </a:xfrm>
          <a:prstGeom prst="rect">
            <a:avLst/>
          </a:prstGeom>
        </p:spPr>
      </p:pic>
      <p:pic>
        <p:nvPicPr>
          <p:cNvPr id="7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286125" y="9363670"/>
            <a:ext cx="95250" cy="95250"/>
          </a:xfrm>
          <a:prstGeom prst="rect">
            <a:avLst/>
          </a:prstGeom>
        </p:spPr>
      </p:pic>
      <p:pic>
        <p:nvPicPr>
          <p:cNvPr id="72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390900" y="9363670"/>
            <a:ext cx="95250" cy="95250"/>
          </a:xfrm>
          <a:prstGeom prst="rect">
            <a:avLst/>
          </a:prstGeom>
        </p:spPr>
      </p:pic>
      <p:pic>
        <p:nvPicPr>
          <p:cNvPr id="73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495675" y="9363670"/>
            <a:ext cx="95250" cy="95250"/>
          </a:xfrm>
          <a:prstGeom prst="rect">
            <a:avLst/>
          </a:prstGeom>
        </p:spPr>
      </p:pic>
      <p:sp>
        <p:nvSpPr>
          <p:cNvPr id="74" name="Text 57"/>
          <p:cNvSpPr/>
          <p:nvPr/>
        </p:nvSpPr>
        <p:spPr>
          <a:xfrm>
            <a:off x="333375" y="9601795"/>
            <a:ext cx="35833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Хорошая работа, немного задержался. В целом доволен.</a:t>
            </a:r>
            <a:endParaRPr lang="en-US" sz="900" dirty="0"/>
          </a:p>
        </p:txBody>
      </p:sp>
      <p:sp>
        <p:nvSpPr>
          <p:cNvPr id="75" name="Text 58"/>
          <p:cNvSpPr/>
          <p:nvPr/>
        </p:nvSpPr>
        <p:spPr>
          <a:xfrm>
            <a:off x="333375" y="9811345"/>
            <a:ext cx="3583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июня 2024 · Сантехника</a:t>
            </a:r>
            <a:endParaRPr lang="en-US" sz="750" dirty="0"/>
          </a:p>
        </p:txBody>
      </p:sp>
      <p:sp>
        <p:nvSpPr>
          <p:cNvPr id="76" name="Shape 59"/>
          <p:cNvSpPr/>
          <p:nvPr/>
        </p:nvSpPr>
        <p:spPr>
          <a:xfrm>
            <a:off x="76200" y="7858125"/>
            <a:ext cx="37719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60"/>
          <p:cNvSpPr/>
          <p:nvPr/>
        </p:nvSpPr>
        <p:spPr>
          <a:xfrm>
            <a:off x="76200" y="7858125"/>
            <a:ext cx="37719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8" name="Shape 61"/>
          <p:cNvSpPr/>
          <p:nvPr/>
        </p:nvSpPr>
        <p:spPr>
          <a:xfrm>
            <a:off x="209550" y="7962900"/>
            <a:ext cx="3505200" cy="476250"/>
          </a:xfrm>
          <a:prstGeom prst="roundRect">
            <a:avLst>
              <a:gd name="adj" fmla="val 28000"/>
            </a:avLst>
          </a:prstGeom>
          <a:solidFill>
            <a:srgbClr val="1A56DB"/>
          </a:solidFill>
          <a:ln/>
        </p:spPr>
      </p:sp>
      <p:sp>
        <p:nvSpPr>
          <p:cNvPr id="79" name="Text 62"/>
          <p:cNvSpPr/>
          <p:nvPr/>
        </p:nvSpPr>
        <p:spPr>
          <a:xfrm>
            <a:off x="214122" y="7972425"/>
            <a:ext cx="349605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Предложить заказ</a:t>
            </a:r>
            <a:endParaRPr lang="en-US" sz="1050" dirty="0"/>
          </a:p>
        </p:txBody>
      </p:sp>
      <p:sp>
        <p:nvSpPr>
          <p:cNvPr id="80" name="Shape 63"/>
          <p:cNvSpPr/>
          <p:nvPr/>
        </p:nvSpPr>
        <p:spPr>
          <a:xfrm>
            <a:off x="1447800" y="8667750"/>
            <a:ext cx="1028700" cy="38100"/>
          </a:xfrm>
          <a:prstGeom prst="roundRect">
            <a:avLst>
              <a:gd name="adj" fmla="val 50000"/>
            </a:avLst>
          </a:prstGeom>
          <a:solidFill>
            <a:srgbClr val="171D1B">
              <a:alpha val="4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24300" cy="9258300"/>
          </a:xfrm>
          <a:prstGeom prst="roundRect">
            <a:avLst>
              <a:gd name="adj" fmla="val 5825"/>
            </a:avLst>
          </a:prstGeom>
          <a:gradFill rotWithShape="1">
            <a:gsLst>
              <a:gs pos="0">
                <a:srgbClr val="334155">
                  <a:alpha val="100000"/>
                </a:srgbClr>
              </a:gs>
              <a:gs pos="100000">
                <a:srgbClr val="1E293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3924300" cy="8496300"/>
          </a:xfrm>
          <a:prstGeom prst="roundRect">
            <a:avLst>
              <a:gd name="adj" fmla="val 4369"/>
            </a:avLst>
          </a:prstGeom>
          <a:solidFill>
            <a:srgbClr val="F4FBF8"/>
          </a:solidFill>
          <a:ln w="76200">
            <a:solidFill>
              <a:srgbClr val="74777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552450"/>
            <a:ext cx="344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1050" spc="19" kern="0" dirty="0">
                <a:solidFill>
                  <a:srgbClr val="17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47850" y="533400"/>
            <a:ext cx="228600" cy="2286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7550" y="571500"/>
            <a:ext cx="152400" cy="152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0900" y="571500"/>
            <a:ext cx="152400" cy="1524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300" y="571500"/>
            <a:ext cx="152400" cy="152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200" y="838200"/>
            <a:ext cx="3771900" cy="115252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9075" y="1028700"/>
            <a:ext cx="104775" cy="1333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1000" y="1014413"/>
            <a:ext cx="6670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Душанбе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2656284" y="1009650"/>
            <a:ext cx="648891" cy="171450"/>
          </a:xfrm>
          <a:prstGeom prst="roundRect">
            <a:avLst>
              <a:gd name="adj" fmla="val 44444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3" name="Shape 7"/>
          <p:cNvSpPr/>
          <p:nvPr/>
        </p:nvSpPr>
        <p:spPr>
          <a:xfrm>
            <a:off x="2751534" y="1066800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8"/>
          <p:cNvSpPr/>
          <p:nvPr/>
        </p:nvSpPr>
        <p:spPr>
          <a:xfrm>
            <a:off x="2856309" y="1038225"/>
            <a:ext cx="42981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3381375" y="93345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67100" y="1019175"/>
            <a:ext cx="152400" cy="1524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19075" y="1333500"/>
            <a:ext cx="3486150" cy="542925"/>
          </a:xfrm>
          <a:prstGeom prst="roundRect">
            <a:avLst>
              <a:gd name="adj" fmla="val 21053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342900" y="1428750"/>
            <a:ext cx="5924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Кошелёк</a:t>
            </a:r>
            <a:endParaRPr lang="en-US" sz="750" dirty="0"/>
          </a:p>
        </p:txBody>
      </p:sp>
      <p:sp>
        <p:nvSpPr>
          <p:cNvPr id="19" name="Text 12"/>
          <p:cNvSpPr/>
          <p:nvPr/>
        </p:nvSpPr>
        <p:spPr>
          <a:xfrm>
            <a:off x="342900" y="1571625"/>
            <a:ext cx="5924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TJS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2583507" y="1519238"/>
            <a:ext cx="997893" cy="171450"/>
          </a:xfrm>
          <a:prstGeom prst="roundRect">
            <a:avLst>
              <a:gd name="adj" fmla="val 44444"/>
            </a:avLst>
          </a:prstGeom>
          <a:solidFill>
            <a:srgbClr val="1A56DB">
              <a:alpha val="2500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2678757" y="1576388"/>
            <a:ext cx="57150" cy="5715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2" name="Text 15"/>
          <p:cNvSpPr/>
          <p:nvPr/>
        </p:nvSpPr>
        <p:spPr>
          <a:xfrm>
            <a:off x="2783532" y="1547813"/>
            <a:ext cx="7788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Режим: Мастер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76200" y="1990725"/>
            <a:ext cx="3771900" cy="6010275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Shape 17"/>
          <p:cNvSpPr/>
          <p:nvPr/>
        </p:nvSpPr>
        <p:spPr>
          <a:xfrm>
            <a:off x="209550" y="2085975"/>
            <a:ext cx="445740" cy="276225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/>
        </p:spPr>
      </p:sp>
      <p:sp>
        <p:nvSpPr>
          <p:cNvPr id="25" name="Text 18"/>
          <p:cNvSpPr/>
          <p:nvPr/>
        </p:nvSpPr>
        <p:spPr>
          <a:xfrm>
            <a:off x="342900" y="2143125"/>
            <a:ext cx="2552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</a:t>
            </a:r>
            <a:endParaRPr lang="en-US" sz="825" dirty="0"/>
          </a:p>
        </p:txBody>
      </p:sp>
      <p:sp>
        <p:nvSpPr>
          <p:cNvPr id="26" name="Shape 19"/>
          <p:cNvSpPr/>
          <p:nvPr/>
        </p:nvSpPr>
        <p:spPr>
          <a:xfrm>
            <a:off x="721965" y="2085975"/>
            <a:ext cx="880021" cy="2762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64840" y="2152650"/>
            <a:ext cx="6704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Сантехника</a:t>
            </a:r>
            <a:endParaRPr lang="en-US" sz="825" dirty="0"/>
          </a:p>
        </p:txBody>
      </p:sp>
      <p:sp>
        <p:nvSpPr>
          <p:cNvPr id="28" name="Shape 21"/>
          <p:cNvSpPr/>
          <p:nvPr/>
        </p:nvSpPr>
        <p:spPr>
          <a:xfrm>
            <a:off x="1668661" y="2085975"/>
            <a:ext cx="817811" cy="2762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811536" y="2152650"/>
            <a:ext cx="6082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Электрика</a:t>
            </a:r>
            <a:endParaRPr lang="en-US" sz="825" dirty="0"/>
          </a:p>
        </p:txBody>
      </p:sp>
      <p:sp>
        <p:nvSpPr>
          <p:cNvPr id="30" name="Shape 23"/>
          <p:cNvSpPr/>
          <p:nvPr/>
        </p:nvSpPr>
        <p:spPr>
          <a:xfrm>
            <a:off x="2553146" y="2085975"/>
            <a:ext cx="631775" cy="2762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696021" y="2152650"/>
            <a:ext cx="4222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фото</a:t>
            </a:r>
            <a:endParaRPr lang="en-US" sz="825" dirty="0"/>
          </a:p>
        </p:txBody>
      </p:sp>
      <p:sp>
        <p:nvSpPr>
          <p:cNvPr id="32" name="Shape 25"/>
          <p:cNvSpPr/>
          <p:nvPr/>
        </p:nvSpPr>
        <p:spPr>
          <a:xfrm>
            <a:off x="209550" y="2476500"/>
            <a:ext cx="3505200" cy="1398240"/>
          </a:xfrm>
          <a:prstGeom prst="roundRect">
            <a:avLst>
              <a:gd name="adj" fmla="val 122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42900" y="2676525"/>
            <a:ext cx="616744" cy="133350"/>
          </a:xfrm>
          <a:prstGeom prst="roundRect">
            <a:avLst>
              <a:gd name="adj" fmla="val 35714"/>
            </a:avLst>
          </a:prstGeom>
          <a:solidFill>
            <a:srgbClr val="FEF3C7"/>
          </a:solidFill>
          <a:ln/>
        </p:spPr>
      </p:sp>
      <p:sp>
        <p:nvSpPr>
          <p:cNvPr id="34" name="Text 27"/>
          <p:cNvSpPr/>
          <p:nvPr/>
        </p:nvSpPr>
        <p:spPr>
          <a:xfrm>
            <a:off x="409575" y="2686050"/>
            <a:ext cx="54506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Срочно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342900" y="2838450"/>
            <a:ext cx="3562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Починить кран на кухне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342900" y="3019425"/>
            <a:ext cx="35623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Течёт смеситель, нужна замена картриджа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342900" y="3236565"/>
            <a:ext cx="4865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Сино</a:t>
            </a:r>
            <a:endParaRPr lang="en-US" sz="825" dirty="0"/>
          </a:p>
        </p:txBody>
      </p:sp>
      <p:sp>
        <p:nvSpPr>
          <p:cNvPr id="38" name="Text 31"/>
          <p:cNvSpPr/>
          <p:nvPr/>
        </p:nvSpPr>
        <p:spPr>
          <a:xfrm>
            <a:off x="848469" y="3236565"/>
            <a:ext cx="7520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до 300 TJS</a:t>
            </a:r>
            <a:endParaRPr lang="en-US" sz="825" dirty="0"/>
          </a:p>
        </p:txBody>
      </p:sp>
      <p:sp>
        <p:nvSpPr>
          <p:cNvPr id="39" name="Text 32"/>
          <p:cNvSpPr/>
          <p:nvPr/>
        </p:nvSpPr>
        <p:spPr>
          <a:xfrm>
            <a:off x="1619548" y="3236565"/>
            <a:ext cx="8185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5 мин назад</a:t>
            </a:r>
            <a:endParaRPr lang="en-US" sz="825" dirty="0"/>
          </a:p>
        </p:txBody>
      </p:sp>
      <p:sp>
        <p:nvSpPr>
          <p:cNvPr id="40" name="Text 33"/>
          <p:cNvSpPr/>
          <p:nvPr/>
        </p:nvSpPr>
        <p:spPr>
          <a:xfrm>
            <a:off x="342900" y="3517553"/>
            <a:ext cx="26134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3</a:t>
            </a:r>
            <a:endParaRPr lang="en-US" sz="825" dirty="0"/>
          </a:p>
        </p:txBody>
      </p:sp>
      <p:sp>
        <p:nvSpPr>
          <p:cNvPr id="41" name="Text 34"/>
          <p:cNvSpPr/>
          <p:nvPr/>
        </p:nvSpPr>
        <p:spPr>
          <a:xfrm>
            <a:off x="623292" y="3517553"/>
            <a:ext cx="26893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1</a:t>
            </a:r>
            <a:endParaRPr lang="en-US" sz="825" dirty="0"/>
          </a:p>
        </p:txBody>
      </p:sp>
      <p:sp>
        <p:nvSpPr>
          <p:cNvPr id="42" name="Shape 35"/>
          <p:cNvSpPr/>
          <p:nvPr/>
        </p:nvSpPr>
        <p:spPr>
          <a:xfrm>
            <a:off x="2521595" y="3474690"/>
            <a:ext cx="1059805" cy="266700"/>
          </a:xfrm>
          <a:prstGeom prst="roundRect">
            <a:avLst>
              <a:gd name="adj" fmla="val 35714"/>
            </a:avLst>
          </a:prstGeom>
          <a:solidFill>
            <a:srgbClr val="1A56DB"/>
          </a:solidFill>
          <a:ln/>
        </p:spPr>
      </p:sp>
      <p:sp>
        <p:nvSpPr>
          <p:cNvPr id="43" name="Text 36"/>
          <p:cNvSpPr/>
          <p:nvPr/>
        </p:nvSpPr>
        <p:spPr>
          <a:xfrm>
            <a:off x="2654945" y="3541365"/>
            <a:ext cx="869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Откликнуться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209550" y="3969990"/>
            <a:ext cx="3505200" cy="1169640"/>
          </a:xfrm>
          <a:prstGeom prst="roundRect">
            <a:avLst>
              <a:gd name="adj" fmla="val 146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342900" y="4103340"/>
            <a:ext cx="3562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Установить розетки (4 шт)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342900" y="4284315"/>
            <a:ext cx="35623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установить 4 двойные розетки в новой квартире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342900" y="4501455"/>
            <a:ext cx="7188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Фирдавси</a:t>
            </a:r>
            <a:endParaRPr lang="en-US" sz="825" dirty="0"/>
          </a:p>
        </p:txBody>
      </p:sp>
      <p:sp>
        <p:nvSpPr>
          <p:cNvPr id="48" name="Text 41"/>
          <p:cNvSpPr/>
          <p:nvPr/>
        </p:nvSpPr>
        <p:spPr>
          <a:xfrm>
            <a:off x="1080790" y="4501455"/>
            <a:ext cx="82778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200–400 TJS</a:t>
            </a:r>
            <a:endParaRPr lang="en-US" sz="825" dirty="0"/>
          </a:p>
        </p:txBody>
      </p:sp>
      <p:sp>
        <p:nvSpPr>
          <p:cNvPr id="49" name="Text 42"/>
          <p:cNvSpPr/>
          <p:nvPr/>
        </p:nvSpPr>
        <p:spPr>
          <a:xfrm>
            <a:off x="1927622" y="4501455"/>
            <a:ext cx="8587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12 мин назад</a:t>
            </a:r>
            <a:endParaRPr lang="en-US" sz="825" dirty="0"/>
          </a:p>
        </p:txBody>
      </p:sp>
      <p:sp>
        <p:nvSpPr>
          <p:cNvPr id="50" name="Text 43"/>
          <p:cNvSpPr/>
          <p:nvPr/>
        </p:nvSpPr>
        <p:spPr>
          <a:xfrm>
            <a:off x="342900" y="4782443"/>
            <a:ext cx="26417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8</a:t>
            </a:r>
            <a:endParaRPr lang="en-US" sz="825" dirty="0"/>
          </a:p>
        </p:txBody>
      </p:sp>
      <p:sp>
        <p:nvSpPr>
          <p:cNvPr id="51" name="Text 44"/>
          <p:cNvSpPr/>
          <p:nvPr/>
        </p:nvSpPr>
        <p:spPr>
          <a:xfrm>
            <a:off x="626120" y="4782443"/>
            <a:ext cx="28783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2</a:t>
            </a:r>
            <a:endParaRPr lang="en-US" sz="825" dirty="0"/>
          </a:p>
        </p:txBody>
      </p:sp>
      <p:sp>
        <p:nvSpPr>
          <p:cNvPr id="52" name="Shape 45"/>
          <p:cNvSpPr/>
          <p:nvPr/>
        </p:nvSpPr>
        <p:spPr>
          <a:xfrm>
            <a:off x="2521595" y="4739580"/>
            <a:ext cx="1059805" cy="266700"/>
          </a:xfrm>
          <a:prstGeom prst="roundRect">
            <a:avLst>
              <a:gd name="adj" fmla="val 35714"/>
            </a:avLst>
          </a:prstGeom>
          <a:solidFill>
            <a:srgbClr val="1A56DB"/>
          </a:solidFill>
          <a:ln/>
        </p:spPr>
      </p:sp>
      <p:sp>
        <p:nvSpPr>
          <p:cNvPr id="53" name="Text 46"/>
          <p:cNvSpPr/>
          <p:nvPr/>
        </p:nvSpPr>
        <p:spPr>
          <a:xfrm>
            <a:off x="2654945" y="4806255"/>
            <a:ext cx="869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Откликнуться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209550" y="5234880"/>
            <a:ext cx="3505200" cy="1169640"/>
          </a:xfrm>
          <a:prstGeom prst="roundRect">
            <a:avLst>
              <a:gd name="adj" fmla="val 146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</p:sp>
      <p:sp>
        <p:nvSpPr>
          <p:cNvPr id="55" name="Text 48"/>
          <p:cNvSpPr/>
          <p:nvPr/>
        </p:nvSpPr>
        <p:spPr>
          <a:xfrm>
            <a:off x="342900" y="5368230"/>
            <a:ext cx="3562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Подключить стиральную машину</a:t>
            </a:r>
            <a:endParaRPr lang="en-US" sz="1050" dirty="0"/>
          </a:p>
        </p:txBody>
      </p:sp>
      <p:sp>
        <p:nvSpPr>
          <p:cNvPr id="56" name="Text 49"/>
          <p:cNvSpPr/>
          <p:nvPr/>
        </p:nvSpPr>
        <p:spPr>
          <a:xfrm>
            <a:off x="342900" y="5549205"/>
            <a:ext cx="35623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Samsung, подключение к водопроводу и канализации</a:t>
            </a:r>
            <a:endParaRPr lang="en-US" sz="900" dirty="0"/>
          </a:p>
        </p:txBody>
      </p:sp>
      <p:sp>
        <p:nvSpPr>
          <p:cNvPr id="57" name="Text 50"/>
          <p:cNvSpPr/>
          <p:nvPr/>
        </p:nvSpPr>
        <p:spPr>
          <a:xfrm>
            <a:off x="342900" y="5766346"/>
            <a:ext cx="71928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И.Сомони</a:t>
            </a:r>
            <a:endParaRPr lang="en-US" sz="825" dirty="0"/>
          </a:p>
        </p:txBody>
      </p:sp>
      <p:sp>
        <p:nvSpPr>
          <p:cNvPr id="58" name="Text 51"/>
          <p:cNvSpPr/>
          <p:nvPr/>
        </p:nvSpPr>
        <p:spPr>
          <a:xfrm>
            <a:off x="1081236" y="5766346"/>
            <a:ext cx="7520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до 150 TJS</a:t>
            </a:r>
            <a:endParaRPr lang="en-US" sz="825" dirty="0"/>
          </a:p>
        </p:txBody>
      </p:sp>
      <p:sp>
        <p:nvSpPr>
          <p:cNvPr id="59" name="Text 52"/>
          <p:cNvSpPr/>
          <p:nvPr/>
        </p:nvSpPr>
        <p:spPr>
          <a:xfrm>
            <a:off x="1852315" y="5766346"/>
            <a:ext cx="6619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1 ч назад</a:t>
            </a:r>
            <a:endParaRPr lang="en-US" sz="825" dirty="0"/>
          </a:p>
        </p:txBody>
      </p:sp>
      <p:sp>
        <p:nvSpPr>
          <p:cNvPr id="60" name="Text 53"/>
          <p:cNvSpPr/>
          <p:nvPr/>
        </p:nvSpPr>
        <p:spPr>
          <a:xfrm>
            <a:off x="342900" y="6047333"/>
            <a:ext cx="3048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15</a:t>
            </a:r>
            <a:endParaRPr lang="en-US" sz="825" dirty="0"/>
          </a:p>
        </p:txBody>
      </p:sp>
      <p:sp>
        <p:nvSpPr>
          <p:cNvPr id="61" name="Text 54"/>
          <p:cNvSpPr/>
          <p:nvPr/>
        </p:nvSpPr>
        <p:spPr>
          <a:xfrm>
            <a:off x="666750" y="6047333"/>
            <a:ext cx="28991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4</a:t>
            </a:r>
            <a:endParaRPr lang="en-US" sz="825" dirty="0"/>
          </a:p>
        </p:txBody>
      </p:sp>
      <p:sp>
        <p:nvSpPr>
          <p:cNvPr id="62" name="Shape 55"/>
          <p:cNvSpPr/>
          <p:nvPr/>
        </p:nvSpPr>
        <p:spPr>
          <a:xfrm>
            <a:off x="2521595" y="6004471"/>
            <a:ext cx="1059805" cy="266700"/>
          </a:xfrm>
          <a:prstGeom prst="roundRect">
            <a:avLst>
              <a:gd name="adj" fmla="val 35714"/>
            </a:avLst>
          </a:prstGeom>
          <a:solidFill>
            <a:srgbClr val="1A56DB"/>
          </a:solidFill>
          <a:ln/>
        </p:spPr>
      </p:sp>
      <p:sp>
        <p:nvSpPr>
          <p:cNvPr id="63" name="Text 56"/>
          <p:cNvSpPr/>
          <p:nvPr/>
        </p:nvSpPr>
        <p:spPr>
          <a:xfrm>
            <a:off x="2654945" y="6071146"/>
            <a:ext cx="869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Откликнуться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209550" y="6499771"/>
            <a:ext cx="3505200" cy="1169640"/>
          </a:xfrm>
          <a:prstGeom prst="roundRect">
            <a:avLst>
              <a:gd name="adj" fmla="val 146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</p:sp>
      <p:sp>
        <p:nvSpPr>
          <p:cNvPr id="65" name="Text 58"/>
          <p:cNvSpPr/>
          <p:nvPr/>
        </p:nvSpPr>
        <p:spPr>
          <a:xfrm>
            <a:off x="342900" y="6633121"/>
            <a:ext cx="3562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Поменять счётчик воды</a:t>
            </a:r>
            <a:endParaRPr lang="en-US" sz="1050" dirty="0"/>
          </a:p>
        </p:txBody>
      </p:sp>
      <p:sp>
        <p:nvSpPr>
          <p:cNvPr id="66" name="Text 59"/>
          <p:cNvSpPr/>
          <p:nvPr/>
        </p:nvSpPr>
        <p:spPr>
          <a:xfrm>
            <a:off x="342900" y="6814096"/>
            <a:ext cx="356235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Плановая замена счётчика горячей воды</a:t>
            </a:r>
            <a:endParaRPr lang="en-US" sz="900" dirty="0"/>
          </a:p>
        </p:txBody>
      </p:sp>
      <p:sp>
        <p:nvSpPr>
          <p:cNvPr id="67" name="Text 60"/>
          <p:cNvSpPr/>
          <p:nvPr/>
        </p:nvSpPr>
        <p:spPr>
          <a:xfrm>
            <a:off x="342900" y="7031236"/>
            <a:ext cx="80501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Шохмансур</a:t>
            </a:r>
            <a:endParaRPr lang="en-US" sz="825" dirty="0"/>
          </a:p>
        </p:txBody>
      </p:sp>
      <p:sp>
        <p:nvSpPr>
          <p:cNvPr id="68" name="Text 61"/>
          <p:cNvSpPr/>
          <p:nvPr/>
        </p:nvSpPr>
        <p:spPr>
          <a:xfrm>
            <a:off x="1166961" y="7031236"/>
            <a:ext cx="117261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жду предложений</a:t>
            </a:r>
            <a:endParaRPr lang="en-US" sz="825" dirty="0"/>
          </a:p>
        </p:txBody>
      </p:sp>
      <p:sp>
        <p:nvSpPr>
          <p:cNvPr id="69" name="Text 62"/>
          <p:cNvSpPr/>
          <p:nvPr/>
        </p:nvSpPr>
        <p:spPr>
          <a:xfrm>
            <a:off x="2358628" y="7031236"/>
            <a:ext cx="6808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2 ч назад</a:t>
            </a:r>
            <a:endParaRPr lang="en-US" sz="825" dirty="0"/>
          </a:p>
        </p:txBody>
      </p:sp>
      <p:sp>
        <p:nvSpPr>
          <p:cNvPr id="70" name="Text 63"/>
          <p:cNvSpPr/>
          <p:nvPr/>
        </p:nvSpPr>
        <p:spPr>
          <a:xfrm>
            <a:off x="342900" y="7312223"/>
            <a:ext cx="3228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22</a:t>
            </a:r>
            <a:endParaRPr lang="en-US" sz="825" dirty="0"/>
          </a:p>
        </p:txBody>
      </p:sp>
      <p:sp>
        <p:nvSpPr>
          <p:cNvPr id="71" name="Text 64"/>
          <p:cNvSpPr/>
          <p:nvPr/>
        </p:nvSpPr>
        <p:spPr>
          <a:xfrm>
            <a:off x="684758" y="7312223"/>
            <a:ext cx="29304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6</a:t>
            </a:r>
            <a:endParaRPr lang="en-US" sz="825" dirty="0"/>
          </a:p>
        </p:txBody>
      </p:sp>
      <p:sp>
        <p:nvSpPr>
          <p:cNvPr id="72" name="Shape 65"/>
          <p:cNvSpPr/>
          <p:nvPr/>
        </p:nvSpPr>
        <p:spPr>
          <a:xfrm>
            <a:off x="2521595" y="7269361"/>
            <a:ext cx="1059805" cy="266700"/>
          </a:xfrm>
          <a:prstGeom prst="roundRect">
            <a:avLst>
              <a:gd name="adj" fmla="val 35714"/>
            </a:avLst>
          </a:prstGeom>
          <a:solidFill>
            <a:srgbClr val="1A56DB"/>
          </a:solidFill>
          <a:ln/>
        </p:spPr>
      </p:sp>
      <p:sp>
        <p:nvSpPr>
          <p:cNvPr id="73" name="Text 66"/>
          <p:cNvSpPr/>
          <p:nvPr/>
        </p:nvSpPr>
        <p:spPr>
          <a:xfrm>
            <a:off x="2654945" y="7336036"/>
            <a:ext cx="8693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Откликнуться</a:t>
            </a:r>
            <a:endParaRPr lang="en-US" sz="900" dirty="0"/>
          </a:p>
        </p:txBody>
      </p:sp>
      <p:sp>
        <p:nvSpPr>
          <p:cNvPr id="74" name="Shape 67"/>
          <p:cNvSpPr/>
          <p:nvPr/>
        </p:nvSpPr>
        <p:spPr>
          <a:xfrm>
            <a:off x="76200" y="8001000"/>
            <a:ext cx="377190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68"/>
          <p:cNvSpPr/>
          <p:nvPr/>
        </p:nvSpPr>
        <p:spPr>
          <a:xfrm>
            <a:off x="76200" y="8001000"/>
            <a:ext cx="3771900" cy="952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7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2843" y="8139112"/>
            <a:ext cx="180975" cy="180975"/>
          </a:xfrm>
          <a:prstGeom prst="rect">
            <a:avLst/>
          </a:prstGeom>
        </p:spPr>
      </p:pic>
      <p:sp>
        <p:nvSpPr>
          <p:cNvPr id="77" name="Text 69"/>
          <p:cNvSpPr/>
          <p:nvPr/>
        </p:nvSpPr>
        <p:spPr>
          <a:xfrm>
            <a:off x="268486" y="8348663"/>
            <a:ext cx="36968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</a:t>
            </a:r>
            <a:endParaRPr lang="en-US" sz="675" dirty="0"/>
          </a:p>
        </p:txBody>
      </p:sp>
      <p:pic>
        <p:nvPicPr>
          <p:cNvPr id="7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7104" y="8139112"/>
            <a:ext cx="180975" cy="180975"/>
          </a:xfrm>
          <a:prstGeom prst="rect">
            <a:avLst/>
          </a:prstGeom>
        </p:spPr>
      </p:pic>
      <p:sp>
        <p:nvSpPr>
          <p:cNvPr id="79" name="Text 70"/>
          <p:cNvSpPr/>
          <p:nvPr/>
        </p:nvSpPr>
        <p:spPr>
          <a:xfrm>
            <a:off x="988665" y="8348663"/>
            <a:ext cx="438001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Отклики</a:t>
            </a:r>
            <a:endParaRPr lang="en-US" sz="675" dirty="0"/>
          </a:p>
        </p:txBody>
      </p:sp>
      <p:pic>
        <p:nvPicPr>
          <p:cNvPr id="8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71514" y="8139112"/>
            <a:ext cx="180975" cy="180975"/>
          </a:xfrm>
          <a:prstGeom prst="rect">
            <a:avLst/>
          </a:prstGeom>
        </p:spPr>
      </p:pic>
      <p:sp>
        <p:nvSpPr>
          <p:cNvPr id="81" name="Text 71"/>
          <p:cNvSpPr/>
          <p:nvPr/>
        </p:nvSpPr>
        <p:spPr>
          <a:xfrm>
            <a:off x="1818382" y="8348663"/>
            <a:ext cx="287238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Чаты</a:t>
            </a:r>
            <a:endParaRPr lang="en-US" sz="675" dirty="0"/>
          </a:p>
        </p:txBody>
      </p:sp>
      <p:pic>
        <p:nvPicPr>
          <p:cNvPr id="8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625923" y="8139112"/>
            <a:ext cx="180975" cy="180975"/>
          </a:xfrm>
          <a:prstGeom prst="rect">
            <a:avLst/>
          </a:prstGeom>
        </p:spPr>
      </p:pic>
      <p:sp>
        <p:nvSpPr>
          <p:cNvPr id="83" name="Text 72"/>
          <p:cNvSpPr/>
          <p:nvPr/>
        </p:nvSpPr>
        <p:spPr>
          <a:xfrm>
            <a:off x="2491680" y="8348663"/>
            <a:ext cx="44961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Кошелёк</a:t>
            </a:r>
            <a:endParaRPr lang="en-US" sz="675" dirty="0"/>
          </a:p>
        </p:txBody>
      </p:sp>
      <p:pic>
        <p:nvPicPr>
          <p:cNvPr id="84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380333" y="8139112"/>
            <a:ext cx="180975" cy="180975"/>
          </a:xfrm>
          <a:prstGeom prst="rect">
            <a:avLst/>
          </a:prstGeom>
        </p:spPr>
      </p:pic>
      <p:sp>
        <p:nvSpPr>
          <p:cNvPr id="85" name="Text 73"/>
          <p:cNvSpPr/>
          <p:nvPr/>
        </p:nvSpPr>
        <p:spPr>
          <a:xfrm>
            <a:off x="3242518" y="8348663"/>
            <a:ext cx="45675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675" dirty="0"/>
          </a:p>
        </p:txBody>
      </p:sp>
      <p:sp>
        <p:nvSpPr>
          <p:cNvPr id="86" name="Shape 74"/>
          <p:cNvSpPr/>
          <p:nvPr/>
        </p:nvSpPr>
        <p:spPr>
          <a:xfrm>
            <a:off x="1447800" y="8667750"/>
            <a:ext cx="1028700" cy="38100"/>
          </a:xfrm>
          <a:prstGeom prst="roundRect">
            <a:avLst>
              <a:gd name="adj" fmla="val 50000"/>
            </a:avLst>
          </a:prstGeom>
          <a:solidFill>
            <a:srgbClr val="171D1B">
              <a:alpha val="4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24300" cy="9258300"/>
          </a:xfrm>
          <a:prstGeom prst="roundRect">
            <a:avLst>
              <a:gd name="adj" fmla="val 5825"/>
            </a:avLst>
          </a:prstGeom>
          <a:gradFill rotWithShape="1">
            <a:gsLst>
              <a:gs pos="0">
                <a:srgbClr val="334155">
                  <a:alpha val="100000"/>
                </a:srgbClr>
              </a:gs>
              <a:gs pos="100000">
                <a:srgbClr val="1E293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3924300" cy="8496300"/>
          </a:xfrm>
          <a:prstGeom prst="roundRect">
            <a:avLst>
              <a:gd name="adj" fmla="val 4369"/>
            </a:avLst>
          </a:prstGeom>
          <a:solidFill>
            <a:srgbClr val="F4FBF8"/>
          </a:solidFill>
          <a:ln w="76200">
            <a:solidFill>
              <a:srgbClr val="74777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552450"/>
            <a:ext cx="344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1050" spc="19" kern="0" dirty="0">
                <a:solidFill>
                  <a:srgbClr val="17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47850" y="533400"/>
            <a:ext cx="228600" cy="2286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7550" y="571500"/>
            <a:ext cx="152400" cy="152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0900" y="571500"/>
            <a:ext cx="152400" cy="1524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300" y="571500"/>
            <a:ext cx="152400" cy="152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200" y="838200"/>
            <a:ext cx="3771900" cy="77343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5"/>
          <p:cNvSpPr/>
          <p:nvPr/>
        </p:nvSpPr>
        <p:spPr>
          <a:xfrm>
            <a:off x="76200" y="838200"/>
            <a:ext cx="3771900" cy="581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6"/>
          <p:cNvSpPr/>
          <p:nvPr/>
        </p:nvSpPr>
        <p:spPr>
          <a:xfrm>
            <a:off x="76200" y="1409700"/>
            <a:ext cx="37719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7"/>
          <p:cNvSpPr/>
          <p:nvPr/>
        </p:nvSpPr>
        <p:spPr>
          <a:xfrm>
            <a:off x="209550" y="9525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1F5F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0038" y="1042988"/>
            <a:ext cx="161925" cy="1619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6750" y="1042988"/>
            <a:ext cx="259285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Починить кран на кухне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3138190" y="1033462"/>
            <a:ext cx="576560" cy="180975"/>
          </a:xfrm>
          <a:prstGeom prst="roundRect">
            <a:avLst>
              <a:gd name="adj" fmla="val 36842"/>
            </a:avLst>
          </a:prstGeom>
          <a:solidFill>
            <a:srgbClr val="DBEAFE"/>
          </a:solidFill>
          <a:ln/>
        </p:spPr>
      </p:sp>
      <p:sp>
        <p:nvSpPr>
          <p:cNvPr id="16" name="Text 10"/>
          <p:cNvSpPr/>
          <p:nvPr/>
        </p:nvSpPr>
        <p:spPr>
          <a:xfrm>
            <a:off x="3214390" y="1062038"/>
            <a:ext cx="50036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Активна</a:t>
            </a:r>
            <a:endParaRPr lang="en-US" sz="825" dirty="0"/>
          </a:p>
        </p:txBody>
      </p:sp>
      <p:sp>
        <p:nvSpPr>
          <p:cNvPr id="17" name="Shape 11"/>
          <p:cNvSpPr/>
          <p:nvPr/>
        </p:nvSpPr>
        <p:spPr>
          <a:xfrm>
            <a:off x="209550" y="1552575"/>
            <a:ext cx="3505200" cy="1426815"/>
          </a:xfrm>
          <a:prstGeom prst="roundRect">
            <a:avLst>
              <a:gd name="adj" fmla="val 10681"/>
            </a:avLst>
          </a:prstGeom>
          <a:solidFill>
            <a:srgbClr val="FFFFFF"/>
          </a:solidFill>
          <a:ln/>
        </p:spPr>
      </p:sp>
      <p:sp>
        <p:nvSpPr>
          <p:cNvPr id="18" name="Text 12"/>
          <p:cNvSpPr/>
          <p:nvPr/>
        </p:nvSpPr>
        <p:spPr>
          <a:xfrm>
            <a:off x="342900" y="1685925"/>
            <a:ext cx="3562350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Течёт смеситель, нужна замена картриджа</a:t>
            </a:r>
            <a:endParaRPr lang="en-US" sz="975" dirty="0"/>
          </a:p>
        </p:txBody>
      </p:sp>
      <p:sp>
        <p:nvSpPr>
          <p:cNvPr id="19" name="Text 13"/>
          <p:cNvSpPr/>
          <p:nvPr/>
        </p:nvSpPr>
        <p:spPr>
          <a:xfrm>
            <a:off x="342900" y="1998315"/>
            <a:ext cx="7239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Район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066800" y="1998315"/>
            <a:ext cx="9124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Сино, Душанбе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342900" y="2226915"/>
            <a:ext cx="7239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066800" y="2226915"/>
            <a:ext cx="65112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300 TJS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342900" y="2455515"/>
            <a:ext cx="7239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66800" y="2455515"/>
            <a:ext cx="53518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42900" y="2684115"/>
            <a:ext cx="7239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Размещена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6800" y="2684115"/>
            <a:ext cx="72047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мин назад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209550" y="3074640"/>
            <a:ext cx="3505200" cy="866775"/>
          </a:xfrm>
          <a:prstGeom prst="roundRect">
            <a:avLst>
              <a:gd name="adj" fmla="val 17582"/>
            </a:avLst>
          </a:prstGeom>
          <a:solidFill>
            <a:srgbClr val="FFFFFF"/>
          </a:solidFill>
          <a:ln/>
        </p:spPr>
      </p:sp>
      <p:sp>
        <p:nvSpPr>
          <p:cNvPr id="28" name="Text 22"/>
          <p:cNvSpPr/>
          <p:nvPr/>
        </p:nvSpPr>
        <p:spPr>
          <a:xfrm>
            <a:off x="342900" y="3207990"/>
            <a:ext cx="35623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8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ЗАКАЗЧИК</a:t>
            </a:r>
            <a:endParaRPr lang="en-US" sz="825" dirty="0"/>
          </a:p>
        </p:txBody>
      </p:sp>
      <p:sp>
        <p:nvSpPr>
          <p:cNvPr id="29" name="Shape 23"/>
          <p:cNvSpPr/>
          <p:nvPr/>
        </p:nvSpPr>
        <p:spPr>
          <a:xfrm>
            <a:off x="342900" y="3427065"/>
            <a:ext cx="381000" cy="3810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D97706">
                  <a:alpha val="100000"/>
                </a:srgbClr>
              </a:gs>
              <a:gs pos="100000">
                <a:srgbClr val="F59E0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0" name="Text 24"/>
          <p:cNvSpPr/>
          <p:nvPr/>
        </p:nvSpPr>
        <p:spPr>
          <a:xfrm>
            <a:off x="304800" y="3427065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</a:t>
            </a:r>
            <a:endParaRPr lang="en-US" sz="975" dirty="0"/>
          </a:p>
        </p:txBody>
      </p:sp>
      <p:sp>
        <p:nvSpPr>
          <p:cNvPr id="31" name="Text 25"/>
          <p:cNvSpPr/>
          <p:nvPr/>
        </p:nvSpPr>
        <p:spPr>
          <a:xfrm>
            <a:off x="819150" y="3474690"/>
            <a:ext cx="14021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Алишер М.</a:t>
            </a:r>
            <a:endParaRPr lang="en-US" sz="975" dirty="0"/>
          </a:p>
        </p:txBody>
      </p:sp>
      <p:sp>
        <p:nvSpPr>
          <p:cNvPr id="32" name="Text 26"/>
          <p:cNvSpPr/>
          <p:nvPr/>
        </p:nvSpPr>
        <p:spPr>
          <a:xfrm>
            <a:off x="819150" y="3617565"/>
            <a:ext cx="140218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заявки · 75% завершают</a:t>
            </a:r>
            <a:endParaRPr lang="en-US" sz="825" dirty="0"/>
          </a:p>
        </p:txBody>
      </p:sp>
      <p:sp>
        <p:nvSpPr>
          <p:cNvPr id="33" name="Shape 27"/>
          <p:cNvSpPr/>
          <p:nvPr/>
        </p:nvSpPr>
        <p:spPr>
          <a:xfrm>
            <a:off x="209550" y="4036665"/>
            <a:ext cx="3505200" cy="2085975"/>
          </a:xfrm>
          <a:prstGeom prst="roundRect">
            <a:avLst>
              <a:gd name="adj" fmla="val 7306"/>
            </a:avLst>
          </a:prstGeom>
          <a:solidFill>
            <a:srgbClr val="FFFFFF"/>
          </a:solidFill>
          <a:ln/>
        </p:spPr>
      </p:sp>
      <p:sp>
        <p:nvSpPr>
          <p:cNvPr id="34" name="Text 28"/>
          <p:cNvSpPr/>
          <p:nvPr/>
        </p:nvSpPr>
        <p:spPr>
          <a:xfrm>
            <a:off x="342900" y="4170015"/>
            <a:ext cx="3562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отклик</a:t>
            </a:r>
            <a:endParaRPr lang="en-US" sz="975" dirty="0"/>
          </a:p>
        </p:txBody>
      </p:sp>
      <p:sp>
        <p:nvSpPr>
          <p:cNvPr id="35" name="Text 29"/>
          <p:cNvSpPr/>
          <p:nvPr/>
        </p:nvSpPr>
        <p:spPr>
          <a:xfrm>
            <a:off x="342900" y="4408140"/>
            <a:ext cx="35623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(TJS)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342900" y="4589115"/>
            <a:ext cx="3238500" cy="390525"/>
          </a:xfrm>
          <a:prstGeom prst="roundRect">
            <a:avLst>
              <a:gd name="adj" fmla="val 29268"/>
            </a:avLst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66725" y="4703415"/>
            <a:ext cx="25881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TJS</a:t>
            </a:r>
            <a:endParaRPr lang="en-US" sz="9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537" y="4693890"/>
            <a:ext cx="2732038" cy="180975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42900" y="5074890"/>
            <a:ext cx="35623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Комментарий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342900" y="5255865"/>
            <a:ext cx="3238500" cy="68580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" y="5255865"/>
            <a:ext cx="3238500" cy="68580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209550" y="6217890"/>
            <a:ext cx="3505200" cy="504825"/>
          </a:xfrm>
          <a:prstGeom prst="roundRect">
            <a:avLst>
              <a:gd name="adj" fmla="val 26415"/>
            </a:avLst>
          </a:prstGeom>
          <a:solidFill>
            <a:srgbClr val="FEF9C3"/>
          </a:solidFill>
          <a:ln/>
        </p:spPr>
      </p:sp>
      <p:sp>
        <p:nvSpPr>
          <p:cNvPr id="43" name="Text 35"/>
          <p:cNvSpPr/>
          <p:nvPr/>
        </p:nvSpPr>
        <p:spPr>
          <a:xfrm>
            <a:off x="342900" y="6356003"/>
            <a:ext cx="2902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350" dirty="0"/>
          </a:p>
        </p:txBody>
      </p:sp>
      <p:sp>
        <p:nvSpPr>
          <p:cNvPr id="44" name="Text 36"/>
          <p:cNvSpPr/>
          <p:nvPr/>
        </p:nvSpPr>
        <p:spPr>
          <a:xfrm>
            <a:off x="652165" y="6332190"/>
            <a:ext cx="212169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отклика: 4 TJS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652165" y="6465540"/>
            <a:ext cx="212169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Списывается с кошелька при отправке</a:t>
            </a:r>
            <a:endParaRPr lang="en-US" sz="825" dirty="0"/>
          </a:p>
        </p:txBody>
      </p:sp>
      <p:sp>
        <p:nvSpPr>
          <p:cNvPr id="46" name="Shape 38"/>
          <p:cNvSpPr/>
          <p:nvPr/>
        </p:nvSpPr>
        <p:spPr>
          <a:xfrm>
            <a:off x="76200" y="7600950"/>
            <a:ext cx="3771900" cy="971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39"/>
          <p:cNvSpPr/>
          <p:nvPr/>
        </p:nvSpPr>
        <p:spPr>
          <a:xfrm>
            <a:off x="76200" y="7600950"/>
            <a:ext cx="37719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0"/>
          <p:cNvSpPr/>
          <p:nvPr/>
        </p:nvSpPr>
        <p:spPr>
          <a:xfrm>
            <a:off x="209550" y="7705725"/>
            <a:ext cx="86573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Баланс: </a:t>
            </a:r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TJS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2779663" y="7705725"/>
            <a:ext cx="101128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Спишется: −4 TJS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209550" y="7943850"/>
            <a:ext cx="3505200" cy="495300"/>
          </a:xfrm>
          <a:prstGeom prst="roundRect">
            <a:avLst>
              <a:gd name="adj" fmla="val 26923"/>
            </a:avLst>
          </a:prstGeom>
          <a:gradFill rotWithShape="1">
            <a:gsLst>
              <a:gs pos="0">
                <a:srgbClr val="1A56DB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1" name="Text 43"/>
          <p:cNvSpPr/>
          <p:nvPr/>
        </p:nvSpPr>
        <p:spPr>
          <a:xfrm>
            <a:off x="214122" y="7953375"/>
            <a:ext cx="3496056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Откликнуться за 4 TJS →</a:t>
            </a:r>
            <a:endParaRPr lang="en-US" sz="1125" dirty="0"/>
          </a:p>
        </p:txBody>
      </p:sp>
      <p:sp>
        <p:nvSpPr>
          <p:cNvPr id="52" name="Shape 44"/>
          <p:cNvSpPr/>
          <p:nvPr/>
        </p:nvSpPr>
        <p:spPr>
          <a:xfrm>
            <a:off x="1447800" y="8667750"/>
            <a:ext cx="1028700" cy="38100"/>
          </a:xfrm>
          <a:prstGeom prst="roundRect">
            <a:avLst>
              <a:gd name="adj" fmla="val 50000"/>
            </a:avLst>
          </a:prstGeom>
          <a:solidFill>
            <a:srgbClr val="171D1B">
              <a:alpha val="40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24300" cy="9258300"/>
          </a:xfrm>
          <a:prstGeom prst="roundRect">
            <a:avLst>
              <a:gd name="adj" fmla="val 5825"/>
            </a:avLst>
          </a:prstGeom>
          <a:gradFill rotWithShape="1">
            <a:gsLst>
              <a:gs pos="0">
                <a:srgbClr val="334155">
                  <a:alpha val="100000"/>
                </a:srgbClr>
              </a:gs>
              <a:gs pos="100000">
                <a:srgbClr val="1E293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3924300" cy="8496300"/>
          </a:xfrm>
          <a:prstGeom prst="roundRect">
            <a:avLst>
              <a:gd name="adj" fmla="val 4369"/>
            </a:avLst>
          </a:prstGeom>
          <a:solidFill>
            <a:srgbClr val="F4FBF8"/>
          </a:solidFill>
          <a:ln w="76200">
            <a:solidFill>
              <a:srgbClr val="74777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552450"/>
            <a:ext cx="344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1050" spc="19" kern="0" dirty="0">
                <a:solidFill>
                  <a:srgbClr val="17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47850" y="533400"/>
            <a:ext cx="228600" cy="2286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7550" y="571500"/>
            <a:ext cx="152400" cy="152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0900" y="571500"/>
            <a:ext cx="152400" cy="1524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300" y="571500"/>
            <a:ext cx="152400" cy="152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200" y="838200"/>
            <a:ext cx="3771900" cy="1152525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9075" y="1028700"/>
            <a:ext cx="104775" cy="1333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1000" y="1014413"/>
            <a:ext cx="6670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Душанбе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2656284" y="1009650"/>
            <a:ext cx="648891" cy="171450"/>
          </a:xfrm>
          <a:prstGeom prst="roundRect">
            <a:avLst>
              <a:gd name="adj" fmla="val 44444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3" name="Shape 7"/>
          <p:cNvSpPr/>
          <p:nvPr/>
        </p:nvSpPr>
        <p:spPr>
          <a:xfrm>
            <a:off x="2751534" y="1066800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8"/>
          <p:cNvSpPr/>
          <p:nvPr/>
        </p:nvSpPr>
        <p:spPr>
          <a:xfrm>
            <a:off x="2856309" y="1038225"/>
            <a:ext cx="42981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3381375" y="93345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67100" y="1019175"/>
            <a:ext cx="152400" cy="1524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19075" y="1333500"/>
            <a:ext cx="3486150" cy="542925"/>
          </a:xfrm>
          <a:prstGeom prst="roundRect">
            <a:avLst>
              <a:gd name="adj" fmla="val 21053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342900" y="1428750"/>
            <a:ext cx="5924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Кошелёк</a:t>
            </a:r>
            <a:endParaRPr lang="en-US" sz="750" dirty="0"/>
          </a:p>
        </p:txBody>
      </p:sp>
      <p:sp>
        <p:nvSpPr>
          <p:cNvPr id="19" name="Text 12"/>
          <p:cNvSpPr/>
          <p:nvPr/>
        </p:nvSpPr>
        <p:spPr>
          <a:xfrm>
            <a:off x="342900" y="1571625"/>
            <a:ext cx="5924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TJS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2583507" y="1519238"/>
            <a:ext cx="997893" cy="171450"/>
          </a:xfrm>
          <a:prstGeom prst="roundRect">
            <a:avLst>
              <a:gd name="adj" fmla="val 44444"/>
            </a:avLst>
          </a:prstGeom>
          <a:solidFill>
            <a:srgbClr val="1A56DB">
              <a:alpha val="2500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2678757" y="1576388"/>
            <a:ext cx="57150" cy="5715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2" name="Text 15"/>
          <p:cNvSpPr/>
          <p:nvPr/>
        </p:nvSpPr>
        <p:spPr>
          <a:xfrm>
            <a:off x="2783532" y="1547813"/>
            <a:ext cx="7788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Режим: Мастер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76200" y="1990725"/>
            <a:ext cx="3771900" cy="6010275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Shape 17"/>
          <p:cNvSpPr/>
          <p:nvPr/>
        </p:nvSpPr>
        <p:spPr>
          <a:xfrm>
            <a:off x="76200" y="1990725"/>
            <a:ext cx="3771900" cy="1743075"/>
          </a:xfrm>
          <a:prstGeom prst="rect">
            <a:avLst/>
          </a:prstGeom>
          <a:gradFill rotWithShape="1">
            <a:gsLst>
              <a:gs pos="0">
                <a:srgbClr val="0F172A">
                  <a:alpha val="100000"/>
                </a:srgbClr>
              </a:gs>
              <a:gs pos="100000">
                <a:srgbClr val="1E3A8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5" name="Text 18"/>
          <p:cNvSpPr/>
          <p:nvPr/>
        </p:nvSpPr>
        <p:spPr>
          <a:xfrm>
            <a:off x="228600" y="2181225"/>
            <a:ext cx="381381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 кошелька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228600" y="2381250"/>
            <a:ext cx="46553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7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2850" dirty="0"/>
          </a:p>
        </p:txBody>
      </p:sp>
      <p:sp>
        <p:nvSpPr>
          <p:cNvPr id="27" name="Text 20"/>
          <p:cNvSpPr/>
          <p:nvPr/>
        </p:nvSpPr>
        <p:spPr>
          <a:xfrm>
            <a:off x="695325" y="2543175"/>
            <a:ext cx="3473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75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TJS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228600" y="2857500"/>
            <a:ext cx="38138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7.8 USD</a:t>
            </a:r>
            <a:endParaRPr lang="en-US" sz="825" dirty="0"/>
          </a:p>
        </p:txBody>
      </p:sp>
      <p:sp>
        <p:nvSpPr>
          <p:cNvPr id="29" name="Shape 22"/>
          <p:cNvSpPr/>
          <p:nvPr/>
        </p:nvSpPr>
        <p:spPr>
          <a:xfrm>
            <a:off x="228600" y="3152775"/>
            <a:ext cx="1282898" cy="352425"/>
          </a:xfrm>
          <a:prstGeom prst="roundRect">
            <a:avLst>
              <a:gd name="adj" fmla="val 32432"/>
            </a:avLst>
          </a:prstGeom>
          <a:solidFill>
            <a:srgbClr val="1A56DB"/>
          </a:solidFill>
          <a:ln/>
        </p:spPr>
      </p:sp>
      <p:sp>
        <p:nvSpPr>
          <p:cNvPr id="30" name="Text 23"/>
          <p:cNvSpPr/>
          <p:nvPr/>
        </p:nvSpPr>
        <p:spPr>
          <a:xfrm>
            <a:off x="419100" y="3248025"/>
            <a:ext cx="90189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Пополнить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209550" y="3867150"/>
            <a:ext cx="38557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8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БЫСТРОЕ ПОПОЛНЕНИЕ</a:t>
            </a:r>
            <a:endParaRPr lang="en-US" sz="825" dirty="0"/>
          </a:p>
        </p:txBody>
      </p:sp>
      <p:sp>
        <p:nvSpPr>
          <p:cNvPr id="32" name="Shape 25"/>
          <p:cNvSpPr/>
          <p:nvPr/>
        </p:nvSpPr>
        <p:spPr>
          <a:xfrm>
            <a:off x="209550" y="4067175"/>
            <a:ext cx="81915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266700" y="4162425"/>
            <a:ext cx="704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75" dirty="0"/>
          </a:p>
        </p:txBody>
      </p:sp>
      <p:sp>
        <p:nvSpPr>
          <p:cNvPr id="34" name="Text 27"/>
          <p:cNvSpPr/>
          <p:nvPr/>
        </p:nvSpPr>
        <p:spPr>
          <a:xfrm>
            <a:off x="266700" y="4305300"/>
            <a:ext cx="7048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TJS</a:t>
            </a:r>
            <a:endParaRPr lang="en-US" sz="675" dirty="0"/>
          </a:p>
        </p:txBody>
      </p:sp>
      <p:sp>
        <p:nvSpPr>
          <p:cNvPr id="35" name="Shape 28"/>
          <p:cNvSpPr/>
          <p:nvPr/>
        </p:nvSpPr>
        <p:spPr>
          <a:xfrm>
            <a:off x="1104900" y="4067175"/>
            <a:ext cx="819150" cy="476250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 w="9525">
            <a:solidFill>
              <a:srgbClr val="1A56DB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171575" y="4171950"/>
            <a:ext cx="6858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75" dirty="0"/>
          </a:p>
        </p:txBody>
      </p:sp>
      <p:sp>
        <p:nvSpPr>
          <p:cNvPr id="37" name="Text 30"/>
          <p:cNvSpPr/>
          <p:nvPr/>
        </p:nvSpPr>
        <p:spPr>
          <a:xfrm>
            <a:off x="1171575" y="4314825"/>
            <a:ext cx="6858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TJS</a:t>
            </a:r>
            <a:endParaRPr lang="en-US" sz="675" dirty="0"/>
          </a:p>
        </p:txBody>
      </p:sp>
      <p:sp>
        <p:nvSpPr>
          <p:cNvPr id="38" name="Shape 31"/>
          <p:cNvSpPr/>
          <p:nvPr/>
        </p:nvSpPr>
        <p:spPr>
          <a:xfrm>
            <a:off x="2000250" y="4067175"/>
            <a:ext cx="81915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39" name="Text 32"/>
          <p:cNvSpPr/>
          <p:nvPr/>
        </p:nvSpPr>
        <p:spPr>
          <a:xfrm>
            <a:off x="2057400" y="4162425"/>
            <a:ext cx="704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75" dirty="0"/>
          </a:p>
        </p:txBody>
      </p:sp>
      <p:sp>
        <p:nvSpPr>
          <p:cNvPr id="40" name="Text 33"/>
          <p:cNvSpPr/>
          <p:nvPr/>
        </p:nvSpPr>
        <p:spPr>
          <a:xfrm>
            <a:off x="2057400" y="4305300"/>
            <a:ext cx="7048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TJS</a:t>
            </a:r>
            <a:endParaRPr lang="en-US" sz="675" dirty="0"/>
          </a:p>
        </p:txBody>
      </p:sp>
      <p:sp>
        <p:nvSpPr>
          <p:cNvPr id="41" name="Shape 34"/>
          <p:cNvSpPr/>
          <p:nvPr/>
        </p:nvSpPr>
        <p:spPr>
          <a:xfrm>
            <a:off x="2895600" y="4067175"/>
            <a:ext cx="819150" cy="47625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2952750" y="4162425"/>
            <a:ext cx="704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975" dirty="0"/>
          </a:p>
        </p:txBody>
      </p:sp>
      <p:sp>
        <p:nvSpPr>
          <p:cNvPr id="43" name="Text 36"/>
          <p:cNvSpPr/>
          <p:nvPr/>
        </p:nvSpPr>
        <p:spPr>
          <a:xfrm>
            <a:off x="2952750" y="4305300"/>
            <a:ext cx="7048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TJS</a:t>
            </a:r>
            <a:endParaRPr lang="en-US" sz="675" dirty="0"/>
          </a:p>
        </p:txBody>
      </p:sp>
      <p:sp>
        <p:nvSpPr>
          <p:cNvPr id="44" name="Shape 37"/>
          <p:cNvSpPr/>
          <p:nvPr/>
        </p:nvSpPr>
        <p:spPr>
          <a:xfrm>
            <a:off x="209550" y="4676775"/>
            <a:ext cx="17145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323850" y="4772025"/>
            <a:ext cx="2902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1350" dirty="0"/>
          </a:p>
        </p:txBody>
      </p:sp>
      <p:sp>
        <p:nvSpPr>
          <p:cNvPr id="46" name="Text 39"/>
          <p:cNvSpPr/>
          <p:nvPr/>
        </p:nvSpPr>
        <p:spPr>
          <a:xfrm>
            <a:off x="614065" y="4824413"/>
            <a:ext cx="50095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 mobi</a:t>
            </a:r>
            <a:endParaRPr lang="en-US" sz="825" dirty="0"/>
          </a:p>
        </p:txBody>
      </p:sp>
      <p:sp>
        <p:nvSpPr>
          <p:cNvPr id="47" name="Shape 40"/>
          <p:cNvSpPr/>
          <p:nvPr/>
        </p:nvSpPr>
        <p:spPr>
          <a:xfrm>
            <a:off x="2000250" y="4676775"/>
            <a:ext cx="17145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48" name="Text 41"/>
          <p:cNvSpPr/>
          <p:nvPr/>
        </p:nvSpPr>
        <p:spPr>
          <a:xfrm>
            <a:off x="2114550" y="4772025"/>
            <a:ext cx="2902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</a:t>
            </a:r>
            <a:endParaRPr lang="en-US" sz="1350" dirty="0"/>
          </a:p>
        </p:txBody>
      </p:sp>
      <p:sp>
        <p:nvSpPr>
          <p:cNvPr id="49" name="Text 42"/>
          <p:cNvSpPr/>
          <p:nvPr/>
        </p:nvSpPr>
        <p:spPr>
          <a:xfrm>
            <a:off x="2404765" y="4824413"/>
            <a:ext cx="36924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</a:t>
            </a:r>
            <a:endParaRPr lang="en-US" sz="825" dirty="0"/>
          </a:p>
        </p:txBody>
      </p:sp>
      <p:sp>
        <p:nvSpPr>
          <p:cNvPr id="50" name="Text 43"/>
          <p:cNvSpPr/>
          <p:nvPr/>
        </p:nvSpPr>
        <p:spPr>
          <a:xfrm>
            <a:off x="209550" y="5248275"/>
            <a:ext cx="38557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8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ТРАНЗАКЦИЙ</a:t>
            </a:r>
            <a:endParaRPr lang="en-US" sz="825" dirty="0"/>
          </a:p>
        </p:txBody>
      </p:sp>
      <p:sp>
        <p:nvSpPr>
          <p:cNvPr id="51" name="Shape 44"/>
          <p:cNvSpPr/>
          <p:nvPr/>
        </p:nvSpPr>
        <p:spPr>
          <a:xfrm>
            <a:off x="209550" y="5448300"/>
            <a:ext cx="3505200" cy="2809875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/>
        </p:spPr>
      </p:sp>
      <p:sp>
        <p:nvSpPr>
          <p:cNvPr id="52" name="Shape 45"/>
          <p:cNvSpPr/>
          <p:nvPr/>
        </p:nvSpPr>
        <p:spPr>
          <a:xfrm>
            <a:off x="209550" y="6000750"/>
            <a:ext cx="3505200" cy="95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Shape 46"/>
          <p:cNvSpPr/>
          <p:nvPr/>
        </p:nvSpPr>
        <p:spPr>
          <a:xfrm>
            <a:off x="333375" y="5553075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D1FAE5"/>
          </a:solidFill>
          <a:ln/>
        </p:spPr>
      </p:sp>
      <p:sp>
        <p:nvSpPr>
          <p:cNvPr id="54" name="Text 47"/>
          <p:cNvSpPr/>
          <p:nvPr/>
        </p:nvSpPr>
        <p:spPr>
          <a:xfrm>
            <a:off x="450652" y="5619750"/>
            <a:ext cx="18439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00" dirty="0"/>
          </a:p>
        </p:txBody>
      </p:sp>
      <p:sp>
        <p:nvSpPr>
          <p:cNvPr id="55" name="Text 48"/>
          <p:cNvSpPr/>
          <p:nvPr/>
        </p:nvSpPr>
        <p:spPr>
          <a:xfrm>
            <a:off x="771525" y="5591175"/>
            <a:ext cx="250199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Пополнение (карта)</a:t>
            </a:r>
            <a:endParaRPr lang="en-US" sz="900" dirty="0"/>
          </a:p>
        </p:txBody>
      </p:sp>
      <p:sp>
        <p:nvSpPr>
          <p:cNvPr id="56" name="Text 49"/>
          <p:cNvSpPr/>
          <p:nvPr/>
        </p:nvSpPr>
        <p:spPr>
          <a:xfrm>
            <a:off x="771525" y="5724525"/>
            <a:ext cx="250199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вчера, 18:30</a:t>
            </a:r>
            <a:endParaRPr lang="en-US" sz="750" dirty="0"/>
          </a:p>
        </p:txBody>
      </p:sp>
      <p:sp>
        <p:nvSpPr>
          <p:cNvPr id="57" name="Text 50"/>
          <p:cNvSpPr/>
          <p:nvPr/>
        </p:nvSpPr>
        <p:spPr>
          <a:xfrm>
            <a:off x="3141315" y="5653088"/>
            <a:ext cx="5258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+100.00</a:t>
            </a:r>
            <a:endParaRPr lang="en-US" sz="975" dirty="0"/>
          </a:p>
        </p:txBody>
      </p:sp>
      <p:sp>
        <p:nvSpPr>
          <p:cNvPr id="58" name="Shape 51"/>
          <p:cNvSpPr/>
          <p:nvPr/>
        </p:nvSpPr>
        <p:spPr>
          <a:xfrm>
            <a:off x="209550" y="6562725"/>
            <a:ext cx="3505200" cy="95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Shape 52"/>
          <p:cNvSpPr/>
          <p:nvPr/>
        </p:nvSpPr>
        <p:spPr>
          <a:xfrm>
            <a:off x="333375" y="611505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EE2E2"/>
          </a:solidFill>
          <a:ln/>
        </p:spPr>
      </p:sp>
      <p:sp>
        <p:nvSpPr>
          <p:cNvPr id="60" name="Text 53"/>
          <p:cNvSpPr/>
          <p:nvPr/>
        </p:nvSpPr>
        <p:spPr>
          <a:xfrm>
            <a:off x="450652" y="6181725"/>
            <a:ext cx="18439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61" name="Text 54"/>
          <p:cNvSpPr/>
          <p:nvPr/>
        </p:nvSpPr>
        <p:spPr>
          <a:xfrm>
            <a:off x="771525" y="6153150"/>
            <a:ext cx="26557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Отклик: Ремонт крана · Сино</a:t>
            </a:r>
            <a:endParaRPr lang="en-US" sz="900" dirty="0"/>
          </a:p>
        </p:txBody>
      </p:sp>
      <p:sp>
        <p:nvSpPr>
          <p:cNvPr id="62" name="Text 55"/>
          <p:cNvSpPr/>
          <p:nvPr/>
        </p:nvSpPr>
        <p:spPr>
          <a:xfrm>
            <a:off x="771525" y="6286500"/>
            <a:ext cx="26557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сегодня, 14:32</a:t>
            </a:r>
            <a:endParaRPr lang="en-US" sz="750" dirty="0"/>
          </a:p>
        </p:txBody>
      </p:sp>
      <p:sp>
        <p:nvSpPr>
          <p:cNvPr id="63" name="Text 56"/>
          <p:cNvSpPr/>
          <p:nvPr/>
        </p:nvSpPr>
        <p:spPr>
          <a:xfrm>
            <a:off x="3281065" y="6215063"/>
            <a:ext cx="3860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−4.00</a:t>
            </a:r>
            <a:endParaRPr lang="en-US" sz="975" dirty="0"/>
          </a:p>
        </p:txBody>
      </p:sp>
      <p:sp>
        <p:nvSpPr>
          <p:cNvPr id="64" name="Shape 57"/>
          <p:cNvSpPr/>
          <p:nvPr/>
        </p:nvSpPr>
        <p:spPr>
          <a:xfrm>
            <a:off x="209550" y="7124700"/>
            <a:ext cx="3505200" cy="95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Shape 58"/>
          <p:cNvSpPr/>
          <p:nvPr/>
        </p:nvSpPr>
        <p:spPr>
          <a:xfrm>
            <a:off x="333375" y="6677025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EF9C3"/>
          </a:solidFill>
          <a:ln/>
        </p:spPr>
      </p:sp>
      <p:sp>
        <p:nvSpPr>
          <p:cNvPr id="66" name="Text 59"/>
          <p:cNvSpPr/>
          <p:nvPr/>
        </p:nvSpPr>
        <p:spPr>
          <a:xfrm>
            <a:off x="436513" y="6743700"/>
            <a:ext cx="21282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00" dirty="0"/>
          </a:p>
        </p:txBody>
      </p:sp>
      <p:sp>
        <p:nvSpPr>
          <p:cNvPr id="67" name="Text 60"/>
          <p:cNvSpPr/>
          <p:nvPr/>
        </p:nvSpPr>
        <p:spPr>
          <a:xfrm>
            <a:off x="771525" y="6715125"/>
            <a:ext cx="26557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Стартовый бонус</a:t>
            </a:r>
            <a:endParaRPr lang="en-US" sz="900" dirty="0"/>
          </a:p>
        </p:txBody>
      </p:sp>
      <p:sp>
        <p:nvSpPr>
          <p:cNvPr id="68" name="Text 61"/>
          <p:cNvSpPr/>
          <p:nvPr/>
        </p:nvSpPr>
        <p:spPr>
          <a:xfrm>
            <a:off x="771525" y="6848475"/>
            <a:ext cx="26557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дня назад</a:t>
            </a:r>
            <a:endParaRPr lang="en-US" sz="750" dirty="0"/>
          </a:p>
        </p:txBody>
      </p:sp>
      <p:sp>
        <p:nvSpPr>
          <p:cNvPr id="69" name="Text 62"/>
          <p:cNvSpPr/>
          <p:nvPr/>
        </p:nvSpPr>
        <p:spPr>
          <a:xfrm>
            <a:off x="3281065" y="6777038"/>
            <a:ext cx="3860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+5.00</a:t>
            </a:r>
            <a:endParaRPr lang="en-US" sz="975" dirty="0"/>
          </a:p>
        </p:txBody>
      </p:sp>
      <p:sp>
        <p:nvSpPr>
          <p:cNvPr id="70" name="Shape 63"/>
          <p:cNvSpPr/>
          <p:nvPr/>
        </p:nvSpPr>
        <p:spPr>
          <a:xfrm>
            <a:off x="209550" y="7686675"/>
            <a:ext cx="3505200" cy="95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1" name="Shape 64"/>
          <p:cNvSpPr/>
          <p:nvPr/>
        </p:nvSpPr>
        <p:spPr>
          <a:xfrm>
            <a:off x="333375" y="7239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EE2E2"/>
          </a:solidFill>
          <a:ln/>
        </p:spPr>
      </p:sp>
      <p:sp>
        <p:nvSpPr>
          <p:cNvPr id="72" name="Text 65"/>
          <p:cNvSpPr/>
          <p:nvPr/>
        </p:nvSpPr>
        <p:spPr>
          <a:xfrm>
            <a:off x="450652" y="7305675"/>
            <a:ext cx="18439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73" name="Text 66"/>
          <p:cNvSpPr/>
          <p:nvPr/>
        </p:nvSpPr>
        <p:spPr>
          <a:xfrm>
            <a:off x="771525" y="7277100"/>
            <a:ext cx="26557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Отклик: Установка розеток</a:t>
            </a:r>
            <a:endParaRPr lang="en-US" sz="900" dirty="0"/>
          </a:p>
        </p:txBody>
      </p:sp>
      <p:sp>
        <p:nvSpPr>
          <p:cNvPr id="74" name="Text 67"/>
          <p:cNvSpPr/>
          <p:nvPr/>
        </p:nvSpPr>
        <p:spPr>
          <a:xfrm>
            <a:off x="771525" y="7410450"/>
            <a:ext cx="26557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дня назад</a:t>
            </a:r>
            <a:endParaRPr lang="en-US" sz="750" dirty="0"/>
          </a:p>
        </p:txBody>
      </p:sp>
      <p:sp>
        <p:nvSpPr>
          <p:cNvPr id="75" name="Text 68"/>
          <p:cNvSpPr/>
          <p:nvPr/>
        </p:nvSpPr>
        <p:spPr>
          <a:xfrm>
            <a:off x="3281065" y="7339012"/>
            <a:ext cx="3860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−5.00</a:t>
            </a:r>
            <a:endParaRPr lang="en-US" sz="975" dirty="0"/>
          </a:p>
        </p:txBody>
      </p:sp>
      <p:sp>
        <p:nvSpPr>
          <p:cNvPr id="76" name="Shape 69"/>
          <p:cNvSpPr/>
          <p:nvPr/>
        </p:nvSpPr>
        <p:spPr>
          <a:xfrm>
            <a:off x="209550" y="8248650"/>
            <a:ext cx="3505200" cy="9525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7" name="Shape 70"/>
          <p:cNvSpPr/>
          <p:nvPr/>
        </p:nvSpPr>
        <p:spPr>
          <a:xfrm>
            <a:off x="333375" y="7800975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D1FAE5"/>
          </a:solidFill>
          <a:ln/>
        </p:spPr>
      </p:sp>
      <p:sp>
        <p:nvSpPr>
          <p:cNvPr id="78" name="Text 71"/>
          <p:cNvSpPr/>
          <p:nvPr/>
        </p:nvSpPr>
        <p:spPr>
          <a:xfrm>
            <a:off x="450652" y="7867650"/>
            <a:ext cx="18439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00" dirty="0"/>
          </a:p>
        </p:txBody>
      </p:sp>
      <p:sp>
        <p:nvSpPr>
          <p:cNvPr id="79" name="Text 72"/>
          <p:cNvSpPr/>
          <p:nvPr/>
        </p:nvSpPr>
        <p:spPr>
          <a:xfrm>
            <a:off x="771525" y="7839075"/>
            <a:ext cx="25789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Пополнение (alif mobi)</a:t>
            </a:r>
            <a:endParaRPr lang="en-US" sz="900" dirty="0"/>
          </a:p>
        </p:txBody>
      </p:sp>
      <p:sp>
        <p:nvSpPr>
          <p:cNvPr id="80" name="Text 73"/>
          <p:cNvSpPr/>
          <p:nvPr/>
        </p:nvSpPr>
        <p:spPr>
          <a:xfrm>
            <a:off x="771525" y="7972425"/>
            <a:ext cx="257893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нед. назад</a:t>
            </a:r>
            <a:endParaRPr lang="en-US" sz="750" dirty="0"/>
          </a:p>
        </p:txBody>
      </p:sp>
      <p:sp>
        <p:nvSpPr>
          <p:cNvPr id="81" name="Text 74"/>
          <p:cNvSpPr/>
          <p:nvPr/>
        </p:nvSpPr>
        <p:spPr>
          <a:xfrm>
            <a:off x="3211264" y="7900988"/>
            <a:ext cx="4558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+50.00</a:t>
            </a:r>
            <a:endParaRPr lang="en-US" sz="975" dirty="0"/>
          </a:p>
        </p:txBody>
      </p:sp>
      <p:sp>
        <p:nvSpPr>
          <p:cNvPr id="82" name="Shape 75"/>
          <p:cNvSpPr/>
          <p:nvPr/>
        </p:nvSpPr>
        <p:spPr>
          <a:xfrm>
            <a:off x="76200" y="8001000"/>
            <a:ext cx="377190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hape 76"/>
          <p:cNvSpPr/>
          <p:nvPr/>
        </p:nvSpPr>
        <p:spPr>
          <a:xfrm>
            <a:off x="76200" y="8001000"/>
            <a:ext cx="3771900" cy="9525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8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2843" y="8139112"/>
            <a:ext cx="180975" cy="180975"/>
          </a:xfrm>
          <a:prstGeom prst="rect">
            <a:avLst/>
          </a:prstGeom>
        </p:spPr>
      </p:pic>
      <p:sp>
        <p:nvSpPr>
          <p:cNvPr id="85" name="Text 77"/>
          <p:cNvSpPr/>
          <p:nvPr/>
        </p:nvSpPr>
        <p:spPr>
          <a:xfrm>
            <a:off x="268486" y="8348663"/>
            <a:ext cx="36968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</a:t>
            </a:r>
            <a:endParaRPr lang="en-US" sz="675" dirty="0"/>
          </a:p>
        </p:txBody>
      </p:sp>
      <p:pic>
        <p:nvPicPr>
          <p:cNvPr id="8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7104" y="8139112"/>
            <a:ext cx="180975" cy="180975"/>
          </a:xfrm>
          <a:prstGeom prst="rect">
            <a:avLst/>
          </a:prstGeom>
        </p:spPr>
      </p:pic>
      <p:sp>
        <p:nvSpPr>
          <p:cNvPr id="87" name="Text 78"/>
          <p:cNvSpPr/>
          <p:nvPr/>
        </p:nvSpPr>
        <p:spPr>
          <a:xfrm>
            <a:off x="988665" y="8348663"/>
            <a:ext cx="438001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Отклики</a:t>
            </a:r>
            <a:endParaRPr lang="en-US" sz="675" dirty="0"/>
          </a:p>
        </p:txBody>
      </p:sp>
      <p:pic>
        <p:nvPicPr>
          <p:cNvPr id="8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71514" y="8139112"/>
            <a:ext cx="180975" cy="180975"/>
          </a:xfrm>
          <a:prstGeom prst="rect">
            <a:avLst/>
          </a:prstGeom>
        </p:spPr>
      </p:pic>
      <p:sp>
        <p:nvSpPr>
          <p:cNvPr id="89" name="Text 79"/>
          <p:cNvSpPr/>
          <p:nvPr/>
        </p:nvSpPr>
        <p:spPr>
          <a:xfrm>
            <a:off x="1818382" y="8348663"/>
            <a:ext cx="287238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Чаты</a:t>
            </a:r>
            <a:endParaRPr lang="en-US" sz="675" dirty="0"/>
          </a:p>
        </p:txBody>
      </p:sp>
      <p:pic>
        <p:nvPicPr>
          <p:cNvPr id="9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625923" y="8139112"/>
            <a:ext cx="180975" cy="180975"/>
          </a:xfrm>
          <a:prstGeom prst="rect">
            <a:avLst/>
          </a:prstGeom>
        </p:spPr>
      </p:pic>
      <p:sp>
        <p:nvSpPr>
          <p:cNvPr id="91" name="Text 80"/>
          <p:cNvSpPr/>
          <p:nvPr/>
        </p:nvSpPr>
        <p:spPr>
          <a:xfrm>
            <a:off x="2491680" y="8348663"/>
            <a:ext cx="44961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Кошелёк</a:t>
            </a:r>
            <a:endParaRPr lang="en-US" sz="675" dirty="0"/>
          </a:p>
        </p:txBody>
      </p:sp>
      <p:pic>
        <p:nvPicPr>
          <p:cNvPr id="9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380333" y="8139112"/>
            <a:ext cx="180975" cy="180975"/>
          </a:xfrm>
          <a:prstGeom prst="rect">
            <a:avLst/>
          </a:prstGeom>
        </p:spPr>
      </p:pic>
      <p:sp>
        <p:nvSpPr>
          <p:cNvPr id="93" name="Text 81"/>
          <p:cNvSpPr/>
          <p:nvPr/>
        </p:nvSpPr>
        <p:spPr>
          <a:xfrm>
            <a:off x="3242518" y="8348663"/>
            <a:ext cx="45675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675" dirty="0"/>
          </a:p>
        </p:txBody>
      </p:sp>
      <p:sp>
        <p:nvSpPr>
          <p:cNvPr id="94" name="Shape 82"/>
          <p:cNvSpPr/>
          <p:nvPr/>
        </p:nvSpPr>
        <p:spPr>
          <a:xfrm>
            <a:off x="1447800" y="8667750"/>
            <a:ext cx="1028700" cy="38100"/>
          </a:xfrm>
          <a:prstGeom prst="roundRect">
            <a:avLst>
              <a:gd name="adj" fmla="val 50000"/>
            </a:avLst>
          </a:prstGeom>
          <a:solidFill>
            <a:srgbClr val="171D1B">
              <a:alpha val="40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24300" cy="9258300"/>
          </a:xfrm>
          <a:prstGeom prst="roundRect">
            <a:avLst>
              <a:gd name="adj" fmla="val 5825"/>
            </a:avLst>
          </a:prstGeom>
          <a:gradFill rotWithShape="1">
            <a:gsLst>
              <a:gs pos="0">
                <a:srgbClr val="334155">
                  <a:alpha val="100000"/>
                </a:srgbClr>
              </a:gs>
              <a:gs pos="100000">
                <a:srgbClr val="1E293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3924300" cy="8496300"/>
          </a:xfrm>
          <a:prstGeom prst="roundRect">
            <a:avLst>
              <a:gd name="adj" fmla="val 4369"/>
            </a:avLst>
          </a:prstGeom>
          <a:solidFill>
            <a:srgbClr val="F4FBF8"/>
          </a:solidFill>
          <a:ln w="76200">
            <a:solidFill>
              <a:srgbClr val="74777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552450"/>
            <a:ext cx="344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1050" spc="19" kern="0" dirty="0">
                <a:solidFill>
                  <a:srgbClr val="17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47850" y="533400"/>
            <a:ext cx="228600" cy="2286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7550" y="571500"/>
            <a:ext cx="152400" cy="152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0900" y="571500"/>
            <a:ext cx="152400" cy="1524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300" y="571500"/>
            <a:ext cx="152400" cy="152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200" y="838200"/>
            <a:ext cx="3771900" cy="77343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5"/>
          <p:cNvSpPr/>
          <p:nvPr/>
        </p:nvSpPr>
        <p:spPr>
          <a:xfrm>
            <a:off x="76200" y="838200"/>
            <a:ext cx="3771900" cy="895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6"/>
          <p:cNvSpPr/>
          <p:nvPr/>
        </p:nvSpPr>
        <p:spPr>
          <a:xfrm>
            <a:off x="76200" y="1724025"/>
            <a:ext cx="37719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7"/>
          <p:cNvSpPr/>
          <p:nvPr/>
        </p:nvSpPr>
        <p:spPr>
          <a:xfrm>
            <a:off x="209550" y="9525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1F5F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0038" y="1042988"/>
            <a:ext cx="142875" cy="14287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28650" y="933450"/>
            <a:ext cx="361950" cy="361950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1A56DB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5" name="Text 9"/>
          <p:cNvSpPr/>
          <p:nvPr/>
        </p:nvSpPr>
        <p:spPr>
          <a:xfrm>
            <a:off x="590550" y="93345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ФТ</a:t>
            </a:r>
            <a:endParaRPr lang="en-US" sz="975" dirty="0"/>
          </a:p>
        </p:txBody>
      </p:sp>
      <p:sp>
        <p:nvSpPr>
          <p:cNvPr id="16" name="Text 10"/>
          <p:cNvSpPr/>
          <p:nvPr/>
        </p:nvSpPr>
        <p:spPr>
          <a:xfrm>
            <a:off x="1085850" y="962025"/>
            <a:ext cx="24307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Фаррух Турсунов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1085850" y="1123950"/>
            <a:ext cx="24307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Онлайн</a:t>
            </a:r>
            <a:endParaRPr lang="en-US" sz="825" dirty="0"/>
          </a:p>
        </p:txBody>
      </p:sp>
      <p:sp>
        <p:nvSpPr>
          <p:cNvPr id="18" name="Shape 12"/>
          <p:cNvSpPr/>
          <p:nvPr/>
        </p:nvSpPr>
        <p:spPr>
          <a:xfrm>
            <a:off x="3390900" y="9525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EFF6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81388" y="1042988"/>
            <a:ext cx="142875" cy="14287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09550" y="1371600"/>
            <a:ext cx="3505200" cy="257175"/>
          </a:xfrm>
          <a:prstGeom prst="roundRect">
            <a:avLst>
              <a:gd name="adj" fmla="val 33333"/>
            </a:avLst>
          </a:prstGeom>
          <a:solidFill>
            <a:srgbClr val="F8FAFC"/>
          </a:solidFill>
          <a:ln/>
        </p:spPr>
      </p:sp>
      <p:sp>
        <p:nvSpPr>
          <p:cNvPr id="21" name="Text 14"/>
          <p:cNvSpPr/>
          <p:nvPr/>
        </p:nvSpPr>
        <p:spPr>
          <a:xfrm>
            <a:off x="252222" y="1428750"/>
            <a:ext cx="341985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Починить кран на кухне · р-н Сино</a:t>
            </a:r>
            <a:endParaRPr lang="en-US" sz="825" dirty="0"/>
          </a:p>
        </p:txBody>
      </p:sp>
      <p:sp>
        <p:nvSpPr>
          <p:cNvPr id="22" name="Shape 15"/>
          <p:cNvSpPr/>
          <p:nvPr/>
        </p:nvSpPr>
        <p:spPr>
          <a:xfrm>
            <a:off x="209550" y="1847850"/>
            <a:ext cx="2663875" cy="692348"/>
          </a:xfrm>
          <a:prstGeom prst="roundRect">
            <a:avLst>
              <a:gd name="adj" fmla="val 247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6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333375" y="1933575"/>
            <a:ext cx="249242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Ассалому алейкум! Готов помочь с краном. Опыт 8 лет</a:t>
            </a:r>
            <a:endParaRPr lang="en-US" sz="975" dirty="0"/>
          </a:p>
        </p:txBody>
      </p:sp>
      <p:sp>
        <p:nvSpPr>
          <p:cNvPr id="24" name="Text 17"/>
          <p:cNvSpPr/>
          <p:nvPr/>
        </p:nvSpPr>
        <p:spPr>
          <a:xfrm>
            <a:off x="91753" y="2321123"/>
            <a:ext cx="265784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14:05</a:t>
            </a:r>
            <a:endParaRPr lang="en-US" sz="750" dirty="0"/>
          </a:p>
        </p:txBody>
      </p:sp>
      <p:sp>
        <p:nvSpPr>
          <p:cNvPr id="25" name="Shape 18"/>
          <p:cNvSpPr/>
          <p:nvPr/>
        </p:nvSpPr>
        <p:spPr>
          <a:xfrm>
            <a:off x="1499146" y="2616398"/>
            <a:ext cx="2215604" cy="512862"/>
          </a:xfrm>
          <a:prstGeom prst="roundRect">
            <a:avLst>
              <a:gd name="adj" fmla="val 33430"/>
            </a:avLst>
          </a:prstGeom>
          <a:solidFill>
            <a:srgbClr val="1A56DB"/>
          </a:solidFill>
          <a:ln/>
          <a:effectLst>
            <a:outerShdw sx="100000" sy="100000" kx="0" ky="0" algn="bl" rotWithShape="0" blurRad="19050" dist="9525" dir="5400000">
              <a:srgbClr val="000000">
                <a:alpha val="6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1622971" y="2702123"/>
            <a:ext cx="2164750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Салом! Когда сможете приехать?</a:t>
            </a:r>
            <a:endParaRPr lang="en-US" sz="975" dirty="0"/>
          </a:p>
        </p:txBody>
      </p:sp>
      <p:sp>
        <p:nvSpPr>
          <p:cNvPr id="27" name="Text 20"/>
          <p:cNvSpPr/>
          <p:nvPr/>
        </p:nvSpPr>
        <p:spPr>
          <a:xfrm>
            <a:off x="1426175" y="2910185"/>
            <a:ext cx="2164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14:07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209550" y="3205460"/>
            <a:ext cx="2521744" cy="512862"/>
          </a:xfrm>
          <a:prstGeom prst="roundRect">
            <a:avLst>
              <a:gd name="adj" fmla="val 334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6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333375" y="3291185"/>
            <a:ext cx="2501503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 в 14:00 или 16:00, как удобно?</a:t>
            </a:r>
            <a:endParaRPr lang="en-US" sz="975" dirty="0"/>
          </a:p>
        </p:txBody>
      </p:sp>
      <p:sp>
        <p:nvSpPr>
          <p:cNvPr id="30" name="Text 23"/>
          <p:cNvSpPr/>
          <p:nvPr/>
        </p:nvSpPr>
        <p:spPr>
          <a:xfrm>
            <a:off x="105966" y="3499247"/>
            <a:ext cx="250150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14:08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2504777" y="3794522"/>
            <a:ext cx="1209973" cy="512862"/>
          </a:xfrm>
          <a:prstGeom prst="roundRect">
            <a:avLst>
              <a:gd name="adj" fmla="val 33430"/>
            </a:avLst>
          </a:prstGeom>
          <a:solidFill>
            <a:srgbClr val="1A56DB"/>
          </a:solidFill>
          <a:ln/>
          <a:effectLst>
            <a:outerShdw sx="100000" sy="100000" kx="0" ky="0" algn="bl" rotWithShape="0" blurRad="19050" dist="9525" dir="5400000">
              <a:srgbClr val="000000">
                <a:alpha val="6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2628602" y="3880247"/>
            <a:ext cx="1038523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14:00 отлично!</a:t>
            </a:r>
            <a:endParaRPr lang="en-US" sz="975" dirty="0"/>
          </a:p>
        </p:txBody>
      </p:sp>
      <p:sp>
        <p:nvSpPr>
          <p:cNvPr id="33" name="Text 26"/>
          <p:cNvSpPr/>
          <p:nvPr/>
        </p:nvSpPr>
        <p:spPr>
          <a:xfrm>
            <a:off x="2552402" y="4088309"/>
            <a:ext cx="10385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14:09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209550" y="4383584"/>
            <a:ext cx="2298204" cy="512862"/>
          </a:xfrm>
          <a:prstGeom prst="roundRect">
            <a:avLst>
              <a:gd name="adj" fmla="val 334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6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333375" y="4469309"/>
            <a:ext cx="2255609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Хорошо, еду. Адрес: ул. Рудаки 45?</a:t>
            </a:r>
            <a:endParaRPr lang="en-US" sz="975" dirty="0"/>
          </a:p>
        </p:txBody>
      </p:sp>
      <p:sp>
        <p:nvSpPr>
          <p:cNvPr id="36" name="Text 29"/>
          <p:cNvSpPr/>
          <p:nvPr/>
        </p:nvSpPr>
        <p:spPr>
          <a:xfrm>
            <a:off x="128320" y="4677370"/>
            <a:ext cx="225560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14:10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2513112" y="4972645"/>
            <a:ext cx="1201638" cy="512862"/>
          </a:xfrm>
          <a:prstGeom prst="roundRect">
            <a:avLst>
              <a:gd name="adj" fmla="val 33430"/>
            </a:avLst>
          </a:prstGeom>
          <a:solidFill>
            <a:srgbClr val="1A56DB"/>
          </a:solidFill>
          <a:ln/>
          <a:effectLst>
            <a:outerShdw sx="100000" sy="100000" kx="0" ky="0" algn="bl" rotWithShape="0" blurRad="19050" dist="9525" dir="5400000">
              <a:srgbClr val="000000">
                <a:alpha val="6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2636937" y="5058370"/>
            <a:ext cx="1030188" cy="217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Да, кв. 12, 3 этаж</a:t>
            </a:r>
            <a:endParaRPr lang="en-US" sz="975" dirty="0"/>
          </a:p>
        </p:txBody>
      </p:sp>
      <p:sp>
        <p:nvSpPr>
          <p:cNvPr id="39" name="Text 32"/>
          <p:cNvSpPr/>
          <p:nvPr/>
        </p:nvSpPr>
        <p:spPr>
          <a:xfrm>
            <a:off x="2560737" y="5266432"/>
            <a:ext cx="10301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14:11</a:t>
            </a:r>
            <a:endParaRPr lang="en-US" sz="750" dirty="0"/>
          </a:p>
        </p:txBody>
      </p:sp>
      <p:sp>
        <p:nvSpPr>
          <p:cNvPr id="40" name="Shape 33"/>
          <p:cNvSpPr/>
          <p:nvPr/>
        </p:nvSpPr>
        <p:spPr>
          <a:xfrm>
            <a:off x="76200" y="7991475"/>
            <a:ext cx="3771900" cy="581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4"/>
          <p:cNvSpPr/>
          <p:nvPr/>
        </p:nvSpPr>
        <p:spPr>
          <a:xfrm>
            <a:off x="76200" y="7991475"/>
            <a:ext cx="37719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Shape 35"/>
          <p:cNvSpPr/>
          <p:nvPr/>
        </p:nvSpPr>
        <p:spPr>
          <a:xfrm>
            <a:off x="190500" y="8086725"/>
            <a:ext cx="3067050" cy="40005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850" y="8191500"/>
            <a:ext cx="2800350" cy="190500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3333750" y="8086725"/>
            <a:ext cx="400050" cy="400050"/>
          </a:xfrm>
          <a:prstGeom prst="ellipse">
            <a:avLst/>
          </a:prstGeom>
          <a:solidFill>
            <a:srgbClr val="1A56DB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52813" y="8205788"/>
            <a:ext cx="161925" cy="161925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1447800" y="8667750"/>
            <a:ext cx="1028700" cy="38100"/>
          </a:xfrm>
          <a:prstGeom prst="roundRect">
            <a:avLst>
              <a:gd name="adj" fmla="val 50000"/>
            </a:avLst>
          </a:prstGeom>
          <a:solidFill>
            <a:srgbClr val="171D1B">
              <a:alpha val="4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24300" cy="9258300"/>
          </a:xfrm>
          <a:prstGeom prst="roundRect">
            <a:avLst>
              <a:gd name="adj" fmla="val 5825"/>
            </a:avLst>
          </a:prstGeom>
          <a:gradFill rotWithShape="1">
            <a:gsLst>
              <a:gs pos="0">
                <a:srgbClr val="334155">
                  <a:alpha val="100000"/>
                </a:srgbClr>
              </a:gs>
              <a:gs pos="100000">
                <a:srgbClr val="1E293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81000"/>
            <a:ext cx="3924300" cy="8496300"/>
          </a:xfrm>
          <a:prstGeom prst="roundRect">
            <a:avLst>
              <a:gd name="adj" fmla="val 4369"/>
            </a:avLst>
          </a:prstGeom>
          <a:solidFill>
            <a:srgbClr val="F4FBF8"/>
          </a:solidFill>
          <a:ln w="76200">
            <a:solidFill>
              <a:srgbClr val="747775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0" dist="28575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552450"/>
            <a:ext cx="344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857"/>
              </a:lnSpc>
              <a:buNone/>
            </a:pPr>
            <a:r>
              <a:rPr lang="en-US" sz="1050" spc="19" kern="0" dirty="0">
                <a:solidFill>
                  <a:srgbClr val="17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847850" y="533400"/>
            <a:ext cx="228600" cy="228600"/>
          </a:xfrm>
          <a:prstGeom prst="ellipse">
            <a:avLst/>
          </a:prstGeom>
          <a:solidFill>
            <a:srgbClr val="2E2E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7550" y="571500"/>
            <a:ext cx="152400" cy="152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0900" y="571500"/>
            <a:ext cx="152400" cy="1524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3300" y="571500"/>
            <a:ext cx="152400" cy="152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200" y="838200"/>
            <a:ext cx="3771900" cy="77343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5"/>
          <p:cNvSpPr/>
          <p:nvPr/>
        </p:nvSpPr>
        <p:spPr>
          <a:xfrm>
            <a:off x="76200" y="838200"/>
            <a:ext cx="3771900" cy="581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6"/>
          <p:cNvSpPr/>
          <p:nvPr/>
        </p:nvSpPr>
        <p:spPr>
          <a:xfrm>
            <a:off x="76200" y="1409700"/>
            <a:ext cx="3771900" cy="95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7"/>
          <p:cNvSpPr/>
          <p:nvPr/>
        </p:nvSpPr>
        <p:spPr>
          <a:xfrm>
            <a:off x="209550" y="9525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1F5F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0038" y="1042988"/>
            <a:ext cx="161925" cy="1619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6750" y="1038225"/>
            <a:ext cx="172960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Верификация мастера</a:t>
            </a:r>
            <a:endParaRPr lang="en-US" sz="1125" dirty="0"/>
          </a:p>
        </p:txBody>
      </p:sp>
      <p:sp>
        <p:nvSpPr>
          <p:cNvPr id="15" name="Shape 9"/>
          <p:cNvSpPr/>
          <p:nvPr/>
        </p:nvSpPr>
        <p:spPr>
          <a:xfrm>
            <a:off x="209550" y="1571625"/>
            <a:ext cx="3505200" cy="10287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0F172A">
                  <a:alpha val="100000"/>
                </a:srgbClr>
              </a:gs>
              <a:gs pos="100000">
                <a:srgbClr val="1E3A8A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6" name="Text 10"/>
          <p:cNvSpPr/>
          <p:nvPr/>
        </p:nvSpPr>
        <p:spPr>
          <a:xfrm>
            <a:off x="381000" y="1743075"/>
            <a:ext cx="34785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статус</a:t>
            </a:r>
            <a:endParaRPr lang="en-US" sz="825" dirty="0"/>
          </a:p>
        </p:txBody>
      </p:sp>
      <p:sp>
        <p:nvSpPr>
          <p:cNvPr id="17" name="Text 11"/>
          <p:cNvSpPr/>
          <p:nvPr/>
        </p:nvSpPr>
        <p:spPr>
          <a:xfrm>
            <a:off x="381000" y="1914525"/>
            <a:ext cx="34785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процессе · Шаг 3/5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381000" y="2200275"/>
            <a:ext cx="316230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Shape 13"/>
          <p:cNvSpPr/>
          <p:nvPr/>
        </p:nvSpPr>
        <p:spPr>
          <a:xfrm>
            <a:off x="381000" y="2200275"/>
            <a:ext cx="1897261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0" name="Text 14"/>
          <p:cNvSpPr/>
          <p:nvPr/>
        </p:nvSpPr>
        <p:spPr>
          <a:xfrm>
            <a:off x="381000" y="2286000"/>
            <a:ext cx="34785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3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SLA: не более 24 часов</a:t>
            </a:r>
            <a:endParaRPr lang="en-US" sz="825" dirty="0"/>
          </a:p>
        </p:txBody>
      </p:sp>
      <p:sp>
        <p:nvSpPr>
          <p:cNvPr id="21" name="Shape 15"/>
          <p:cNvSpPr/>
          <p:nvPr/>
        </p:nvSpPr>
        <p:spPr>
          <a:xfrm>
            <a:off x="209550" y="2790825"/>
            <a:ext cx="304800" cy="30480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5275" y="2876550"/>
            <a:ext cx="133350" cy="13335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352425" y="3133725"/>
            <a:ext cx="19050" cy="36195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17"/>
          <p:cNvSpPr/>
          <p:nvPr/>
        </p:nvSpPr>
        <p:spPr>
          <a:xfrm>
            <a:off x="628650" y="2828925"/>
            <a:ext cx="12473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Анкета отправлена</a:t>
            </a:r>
            <a:endParaRPr lang="en-US" sz="975" dirty="0"/>
          </a:p>
        </p:txBody>
      </p:sp>
      <p:sp>
        <p:nvSpPr>
          <p:cNvPr id="25" name="Text 18"/>
          <p:cNvSpPr/>
          <p:nvPr/>
        </p:nvSpPr>
        <p:spPr>
          <a:xfrm>
            <a:off x="628650" y="2990850"/>
            <a:ext cx="124732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Выполнено</a:t>
            </a:r>
            <a:endParaRPr lang="en-US" sz="825" dirty="0"/>
          </a:p>
        </p:txBody>
      </p:sp>
      <p:sp>
        <p:nvSpPr>
          <p:cNvPr id="26" name="Shape 19"/>
          <p:cNvSpPr/>
          <p:nvPr/>
        </p:nvSpPr>
        <p:spPr>
          <a:xfrm>
            <a:off x="209550" y="3533775"/>
            <a:ext cx="304800" cy="30480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5275" y="3619500"/>
            <a:ext cx="133350" cy="13335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352425" y="3876675"/>
            <a:ext cx="19050" cy="36195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1"/>
          <p:cNvSpPr/>
          <p:nvPr/>
        </p:nvSpPr>
        <p:spPr>
          <a:xfrm>
            <a:off x="628650" y="3571875"/>
            <a:ext cx="15662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проверены</a:t>
            </a:r>
            <a:endParaRPr lang="en-US" sz="975" dirty="0"/>
          </a:p>
        </p:txBody>
      </p:sp>
      <p:sp>
        <p:nvSpPr>
          <p:cNvPr id="30" name="Text 22"/>
          <p:cNvSpPr/>
          <p:nvPr/>
        </p:nvSpPr>
        <p:spPr>
          <a:xfrm>
            <a:off x="628650" y="3733800"/>
            <a:ext cx="156622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Личность подтверждена</a:t>
            </a:r>
            <a:endParaRPr lang="en-US" sz="825" dirty="0"/>
          </a:p>
        </p:txBody>
      </p:sp>
      <p:sp>
        <p:nvSpPr>
          <p:cNvPr id="31" name="Shape 23"/>
          <p:cNvSpPr/>
          <p:nvPr/>
        </p:nvSpPr>
        <p:spPr>
          <a:xfrm>
            <a:off x="209550" y="4276725"/>
            <a:ext cx="304800" cy="304800"/>
          </a:xfrm>
          <a:prstGeom prst="ellipse">
            <a:avLst/>
          </a:prstGeom>
          <a:solidFill>
            <a:srgbClr val="F59E0B">
              <a:alpha val="4200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326975" y="4357688"/>
            <a:ext cx="1461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33" name="Shape 25"/>
          <p:cNvSpPr/>
          <p:nvPr/>
        </p:nvSpPr>
        <p:spPr>
          <a:xfrm>
            <a:off x="352425" y="4619625"/>
            <a:ext cx="19050" cy="4953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26"/>
          <p:cNvSpPr/>
          <p:nvPr/>
        </p:nvSpPr>
        <p:spPr>
          <a:xfrm>
            <a:off x="628650" y="4314825"/>
            <a:ext cx="20999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по специальности</a:t>
            </a:r>
            <a:endParaRPr lang="en-US" sz="975" dirty="0"/>
          </a:p>
        </p:txBody>
      </p:sp>
      <p:sp>
        <p:nvSpPr>
          <p:cNvPr id="35" name="Text 27"/>
          <p:cNvSpPr/>
          <p:nvPr/>
        </p:nvSpPr>
        <p:spPr>
          <a:xfrm>
            <a:off x="628650" y="4476750"/>
            <a:ext cx="20999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 В процессе</a:t>
            </a:r>
            <a:endParaRPr lang="en-US" sz="825" dirty="0"/>
          </a:p>
        </p:txBody>
      </p:sp>
      <p:sp>
        <p:nvSpPr>
          <p:cNvPr id="36" name="Shape 28"/>
          <p:cNvSpPr/>
          <p:nvPr/>
        </p:nvSpPr>
        <p:spPr>
          <a:xfrm>
            <a:off x="628650" y="4714875"/>
            <a:ext cx="1909018" cy="590550"/>
          </a:xfrm>
          <a:prstGeom prst="roundRect">
            <a:avLst>
              <a:gd name="adj" fmla="val 16129"/>
            </a:avLst>
          </a:prstGeom>
          <a:solidFill>
            <a:srgbClr val="FEF9C3"/>
          </a:solidFill>
          <a:ln/>
        </p:spPr>
      </p:sp>
      <p:sp>
        <p:nvSpPr>
          <p:cNvPr id="37" name="Text 29"/>
          <p:cNvSpPr/>
          <p:nvPr/>
        </p:nvSpPr>
        <p:spPr>
          <a:xfrm>
            <a:off x="723900" y="4810125"/>
            <a:ext cx="18903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Тест: Сантехника · 10 вопросов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723900" y="4972050"/>
            <a:ext cx="18903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Пройдено 7/10 · Порог: 7/10</a:t>
            </a:r>
            <a:endParaRPr lang="en-US" sz="825" dirty="0"/>
          </a:p>
        </p:txBody>
      </p:sp>
      <p:sp>
        <p:nvSpPr>
          <p:cNvPr id="39" name="Shape 31"/>
          <p:cNvSpPr/>
          <p:nvPr/>
        </p:nvSpPr>
        <p:spPr>
          <a:xfrm>
            <a:off x="723900" y="5172075"/>
            <a:ext cx="1718518" cy="3810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/>
        </p:spPr>
      </p:sp>
      <p:sp>
        <p:nvSpPr>
          <p:cNvPr id="40" name="Shape 32"/>
          <p:cNvSpPr/>
          <p:nvPr/>
        </p:nvSpPr>
        <p:spPr>
          <a:xfrm>
            <a:off x="723900" y="5172075"/>
            <a:ext cx="1202829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1" name="Shape 33"/>
          <p:cNvSpPr/>
          <p:nvPr/>
        </p:nvSpPr>
        <p:spPr>
          <a:xfrm>
            <a:off x="209550" y="5305425"/>
            <a:ext cx="304800" cy="30480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42" name="Text 34"/>
          <p:cNvSpPr/>
          <p:nvPr/>
        </p:nvSpPr>
        <p:spPr>
          <a:xfrm>
            <a:off x="326975" y="5386388"/>
            <a:ext cx="1461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43" name="Shape 35"/>
          <p:cNvSpPr/>
          <p:nvPr/>
        </p:nvSpPr>
        <p:spPr>
          <a:xfrm>
            <a:off x="352425" y="5648325"/>
            <a:ext cx="19050" cy="36195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36"/>
          <p:cNvSpPr/>
          <p:nvPr/>
        </p:nvSpPr>
        <p:spPr>
          <a:xfrm>
            <a:off x="628650" y="5343525"/>
            <a:ext cx="14976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Звонок оператора</a:t>
            </a:r>
            <a:endParaRPr lang="en-US" sz="975" dirty="0"/>
          </a:p>
        </p:txBody>
      </p:sp>
      <p:sp>
        <p:nvSpPr>
          <p:cNvPr id="45" name="Text 37"/>
          <p:cNvSpPr/>
          <p:nvPr/>
        </p:nvSpPr>
        <p:spPr>
          <a:xfrm>
            <a:off x="628650" y="5505450"/>
            <a:ext cx="14976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5-минутная беседа, скрипт</a:t>
            </a:r>
            <a:endParaRPr lang="en-US" sz="825" dirty="0"/>
          </a:p>
        </p:txBody>
      </p:sp>
      <p:sp>
        <p:nvSpPr>
          <p:cNvPr id="46" name="Shape 38"/>
          <p:cNvSpPr/>
          <p:nvPr/>
        </p:nvSpPr>
        <p:spPr>
          <a:xfrm>
            <a:off x="209550" y="6048375"/>
            <a:ext cx="304800" cy="304800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47" name="Text 39"/>
          <p:cNvSpPr/>
          <p:nvPr/>
        </p:nvSpPr>
        <p:spPr>
          <a:xfrm>
            <a:off x="326975" y="6129338"/>
            <a:ext cx="1461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48" name="Text 40"/>
          <p:cNvSpPr/>
          <p:nvPr/>
        </p:nvSpPr>
        <p:spPr>
          <a:xfrm>
            <a:off x="628650" y="6086475"/>
            <a:ext cx="161680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активен 🎉</a:t>
            </a:r>
            <a:endParaRPr lang="en-US" sz="975" dirty="0"/>
          </a:p>
        </p:txBody>
      </p:sp>
      <p:sp>
        <p:nvSpPr>
          <p:cNvPr id="49" name="Text 41"/>
          <p:cNvSpPr/>
          <p:nvPr/>
        </p:nvSpPr>
        <p:spPr>
          <a:xfrm>
            <a:off x="628650" y="6248400"/>
            <a:ext cx="161680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Начинайте принимать заказы</a:t>
            </a:r>
            <a:endParaRPr lang="en-US" sz="825" dirty="0"/>
          </a:p>
        </p:txBody>
      </p:sp>
      <p:sp>
        <p:nvSpPr>
          <p:cNvPr id="50" name="Shape 42"/>
          <p:cNvSpPr/>
          <p:nvPr/>
        </p:nvSpPr>
        <p:spPr>
          <a:xfrm>
            <a:off x="1447800" y="8667750"/>
            <a:ext cx="1028700" cy="38100"/>
          </a:xfrm>
          <a:prstGeom prst="roundRect">
            <a:avLst>
              <a:gd name="adj" fmla="val 50000"/>
            </a:avLst>
          </a:prstGeom>
          <a:solidFill>
            <a:srgbClr val="171D1B">
              <a:alpha val="4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2026-07-09T21:46:52Z</dcterms:created>
  <dcterms:modified xsi:type="dcterms:W3CDTF">2026-07-09T21:46:52Z</dcterms:modified>
</cp:coreProperties>
</file>